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62" r:id="rId4"/>
    <p:sldId id="263" r:id="rId5"/>
    <p:sldId id="265" r:id="rId6"/>
    <p:sldId id="267" r:id="rId7"/>
    <p:sldId id="264" r:id="rId8"/>
    <p:sldId id="289" r:id="rId9"/>
    <p:sldId id="266" r:id="rId10"/>
    <p:sldId id="288" r:id="rId11"/>
    <p:sldId id="282" r:id="rId12"/>
    <p:sldId id="290" r:id="rId13"/>
    <p:sldId id="284" r:id="rId14"/>
    <p:sldId id="270" r:id="rId15"/>
    <p:sldId id="283" r:id="rId16"/>
    <p:sldId id="280" r:id="rId17"/>
    <p:sldId id="281" r:id="rId18"/>
    <p:sldId id="268" r:id="rId19"/>
    <p:sldId id="269" r:id="rId20"/>
    <p:sldId id="271" r:id="rId21"/>
    <p:sldId id="272" r:id="rId22"/>
    <p:sldId id="273" r:id="rId23"/>
    <p:sldId id="274" r:id="rId24"/>
    <p:sldId id="287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5E896-A326-44B9-A79F-20A4A5AC46F6}" v="39" dt="2026-05-22T21:28:26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389791-A3E9-48E2-8B2F-7F39BA751D8D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60D7DB0-A799-4F9A-A4B1-BB7B69A72D67}" type="pres">
      <dgm:prSet presAssocID="{A0389791-A3E9-48E2-8B2F-7F39BA751D8D}" presName="Name0" presStyleCnt="0">
        <dgm:presLayoutVars>
          <dgm:resizeHandles/>
        </dgm:presLayoutVars>
      </dgm:prSet>
      <dgm:spPr/>
    </dgm:pt>
  </dgm:ptLst>
  <dgm:cxnLst>
    <dgm:cxn modelId="{39696049-FCF3-45C1-8D16-058ABA7E3ADA}" type="presOf" srcId="{A0389791-A3E9-48E2-8B2F-7F39BA751D8D}" destId="{D60D7DB0-A799-4F9A-A4B1-BB7B69A72D67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62D4AA-06B4-4909-9F65-17BFA77457F1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8678A8-85B8-4CC4-BADA-B4226852762B}">
      <dgm:prSet phldrT="[Text]" phldr="0"/>
      <dgm:spPr/>
      <dgm:t>
        <a:bodyPr/>
        <a:lstStyle/>
        <a:p>
          <a:r>
            <a:rPr lang="en-IN" dirty="0"/>
            <a:t>Geometry development</a:t>
          </a:r>
        </a:p>
      </dgm:t>
    </dgm:pt>
    <dgm:pt modelId="{5A8AE973-CB5A-4F27-A900-31BE662EC573}" type="parTrans" cxnId="{59068DAC-DF23-45D7-A108-FB05034BF267}">
      <dgm:prSet/>
      <dgm:spPr/>
      <dgm:t>
        <a:bodyPr/>
        <a:lstStyle/>
        <a:p>
          <a:endParaRPr lang="en-IN"/>
        </a:p>
      </dgm:t>
    </dgm:pt>
    <dgm:pt modelId="{D443992A-1771-4579-A03D-E1C5C63210D7}" type="sibTrans" cxnId="{59068DAC-DF23-45D7-A108-FB05034BF267}">
      <dgm:prSet/>
      <dgm:spPr/>
      <dgm:t>
        <a:bodyPr/>
        <a:lstStyle/>
        <a:p>
          <a:endParaRPr lang="en-IN"/>
        </a:p>
      </dgm:t>
    </dgm:pt>
    <dgm:pt modelId="{B0DC202F-7331-4C18-BD98-DA95C9E9ABE9}">
      <dgm:prSet phldrT="[Text]" phldr="0"/>
      <dgm:spPr/>
      <dgm:t>
        <a:bodyPr/>
        <a:lstStyle/>
        <a:p>
          <a:r>
            <a:rPr lang="en-IN" dirty="0" err="1"/>
            <a:t>OpenFOAM</a:t>
          </a:r>
          <a:r>
            <a:rPr lang="en-IN" dirty="0"/>
            <a:t> solver selection</a:t>
          </a:r>
        </a:p>
      </dgm:t>
    </dgm:pt>
    <dgm:pt modelId="{91975728-8806-41F8-8BAF-5EAA576D3C5D}" type="parTrans" cxnId="{0DF17E41-6C23-48B7-B051-1D3B566502C6}">
      <dgm:prSet/>
      <dgm:spPr/>
      <dgm:t>
        <a:bodyPr/>
        <a:lstStyle/>
        <a:p>
          <a:endParaRPr lang="en-IN"/>
        </a:p>
      </dgm:t>
    </dgm:pt>
    <dgm:pt modelId="{822BA77D-B7C9-4143-8343-C52F3FFB3B7D}" type="sibTrans" cxnId="{0DF17E41-6C23-48B7-B051-1D3B566502C6}">
      <dgm:prSet/>
      <dgm:spPr/>
      <dgm:t>
        <a:bodyPr/>
        <a:lstStyle/>
        <a:p>
          <a:endParaRPr lang="en-IN"/>
        </a:p>
      </dgm:t>
    </dgm:pt>
    <dgm:pt modelId="{9C2DEB67-953C-4747-9638-234CF11CC640}">
      <dgm:prSet phldrT="[Text]" phldr="0"/>
      <dgm:spPr/>
      <dgm:t>
        <a:bodyPr/>
        <a:lstStyle/>
        <a:p>
          <a:r>
            <a:rPr lang="en-IN" dirty="0"/>
            <a:t>Governing equations</a:t>
          </a:r>
        </a:p>
      </dgm:t>
    </dgm:pt>
    <dgm:pt modelId="{CB598D82-BAC7-4020-B6A4-3B6D1D148C03}" type="parTrans" cxnId="{C4D79963-EF5F-4A42-914D-F1F828E18D9C}">
      <dgm:prSet/>
      <dgm:spPr/>
      <dgm:t>
        <a:bodyPr/>
        <a:lstStyle/>
        <a:p>
          <a:endParaRPr lang="en-IN"/>
        </a:p>
      </dgm:t>
    </dgm:pt>
    <dgm:pt modelId="{4F7A97B1-1BAD-4655-9D99-67993A6AB01D}" type="sibTrans" cxnId="{C4D79963-EF5F-4A42-914D-F1F828E18D9C}">
      <dgm:prSet/>
      <dgm:spPr/>
      <dgm:t>
        <a:bodyPr/>
        <a:lstStyle/>
        <a:p>
          <a:endParaRPr lang="en-IN"/>
        </a:p>
      </dgm:t>
    </dgm:pt>
    <dgm:pt modelId="{8AFFDED2-9D57-4C27-8604-8FB2800A45C9}" type="pres">
      <dgm:prSet presAssocID="{6D62D4AA-06B4-4909-9F65-17BFA77457F1}" presName="linearFlow" presStyleCnt="0">
        <dgm:presLayoutVars>
          <dgm:dir/>
          <dgm:resizeHandles val="exact"/>
        </dgm:presLayoutVars>
      </dgm:prSet>
      <dgm:spPr/>
    </dgm:pt>
    <dgm:pt modelId="{A4ABFBA1-F570-458C-8E48-71C73C293D72}" type="pres">
      <dgm:prSet presAssocID="{028678A8-85B8-4CC4-BADA-B4226852762B}" presName="composite" presStyleCnt="0"/>
      <dgm:spPr/>
    </dgm:pt>
    <dgm:pt modelId="{F103A125-8C14-49CF-9459-632C2F9F6523}" type="pres">
      <dgm:prSet presAssocID="{028678A8-85B8-4CC4-BADA-B4226852762B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1 with solid fill"/>
        </a:ext>
      </dgm:extLst>
    </dgm:pt>
    <dgm:pt modelId="{9BE0A674-2FE4-48EC-85B4-E79C4E548F55}" type="pres">
      <dgm:prSet presAssocID="{028678A8-85B8-4CC4-BADA-B4226852762B}" presName="txShp" presStyleLbl="node1" presStyleIdx="0" presStyleCnt="3">
        <dgm:presLayoutVars>
          <dgm:bulletEnabled val="1"/>
        </dgm:presLayoutVars>
      </dgm:prSet>
      <dgm:spPr/>
    </dgm:pt>
    <dgm:pt modelId="{29708549-1B63-407F-9EAF-21A4795BA8E9}" type="pres">
      <dgm:prSet presAssocID="{D443992A-1771-4579-A03D-E1C5C63210D7}" presName="spacing" presStyleCnt="0"/>
      <dgm:spPr/>
    </dgm:pt>
    <dgm:pt modelId="{F3D47B76-2DC8-4726-B2A4-3BCA568399C3}" type="pres">
      <dgm:prSet presAssocID="{B0DC202F-7331-4C18-BD98-DA95C9E9ABE9}" presName="composite" presStyleCnt="0"/>
      <dgm:spPr/>
    </dgm:pt>
    <dgm:pt modelId="{9C8C1662-8B95-4D61-A341-BFD3051907D7}" type="pres">
      <dgm:prSet presAssocID="{B0DC202F-7331-4C18-BD98-DA95C9E9ABE9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with solid fill"/>
        </a:ext>
      </dgm:extLst>
    </dgm:pt>
    <dgm:pt modelId="{84FFF17E-A729-4173-8ACB-B5F256610D97}" type="pres">
      <dgm:prSet presAssocID="{B0DC202F-7331-4C18-BD98-DA95C9E9ABE9}" presName="txShp" presStyleLbl="node1" presStyleIdx="1" presStyleCnt="3">
        <dgm:presLayoutVars>
          <dgm:bulletEnabled val="1"/>
        </dgm:presLayoutVars>
      </dgm:prSet>
      <dgm:spPr/>
    </dgm:pt>
    <dgm:pt modelId="{6967AECB-14DB-41EF-8F25-69D8B8D78B63}" type="pres">
      <dgm:prSet presAssocID="{822BA77D-B7C9-4143-8343-C52F3FFB3B7D}" presName="spacing" presStyleCnt="0"/>
      <dgm:spPr/>
    </dgm:pt>
    <dgm:pt modelId="{CF08C7ED-0D4D-46A7-BD63-0232AE286386}" type="pres">
      <dgm:prSet presAssocID="{9C2DEB67-953C-4747-9638-234CF11CC640}" presName="composite" presStyleCnt="0"/>
      <dgm:spPr/>
    </dgm:pt>
    <dgm:pt modelId="{1A173B3E-9E18-40A6-9B1D-2EACC53FFF0E}" type="pres">
      <dgm:prSet presAssocID="{9C2DEB67-953C-4747-9638-234CF11CC640}" presName="imgShp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3 with solid fill"/>
        </a:ext>
      </dgm:extLst>
    </dgm:pt>
    <dgm:pt modelId="{1B9468BC-F8AF-479D-8B0E-FDD0C86A3F67}" type="pres">
      <dgm:prSet presAssocID="{9C2DEB67-953C-4747-9638-234CF11CC640}" presName="txShp" presStyleLbl="node1" presStyleIdx="2" presStyleCnt="3">
        <dgm:presLayoutVars>
          <dgm:bulletEnabled val="1"/>
        </dgm:presLayoutVars>
      </dgm:prSet>
      <dgm:spPr/>
    </dgm:pt>
  </dgm:ptLst>
  <dgm:cxnLst>
    <dgm:cxn modelId="{0DF17E41-6C23-48B7-B051-1D3B566502C6}" srcId="{6D62D4AA-06B4-4909-9F65-17BFA77457F1}" destId="{B0DC202F-7331-4C18-BD98-DA95C9E9ABE9}" srcOrd="1" destOrd="0" parTransId="{91975728-8806-41F8-8BAF-5EAA576D3C5D}" sibTransId="{822BA77D-B7C9-4143-8343-C52F3FFB3B7D}"/>
    <dgm:cxn modelId="{C4D79963-EF5F-4A42-914D-F1F828E18D9C}" srcId="{6D62D4AA-06B4-4909-9F65-17BFA77457F1}" destId="{9C2DEB67-953C-4747-9638-234CF11CC640}" srcOrd="2" destOrd="0" parTransId="{CB598D82-BAC7-4020-B6A4-3B6D1D148C03}" sibTransId="{4F7A97B1-1BAD-4655-9D99-67993A6AB01D}"/>
    <dgm:cxn modelId="{63D14F46-5D2A-446A-B5CF-DE5D2EEE38C8}" type="presOf" srcId="{028678A8-85B8-4CC4-BADA-B4226852762B}" destId="{9BE0A674-2FE4-48EC-85B4-E79C4E548F55}" srcOrd="0" destOrd="0" presId="urn:microsoft.com/office/officeart/2005/8/layout/vList3"/>
    <dgm:cxn modelId="{66B2D679-C9B9-4C7F-8E73-1DEB7B5F1C5F}" type="presOf" srcId="{6D62D4AA-06B4-4909-9F65-17BFA77457F1}" destId="{8AFFDED2-9D57-4C27-8604-8FB2800A45C9}" srcOrd="0" destOrd="0" presId="urn:microsoft.com/office/officeart/2005/8/layout/vList3"/>
    <dgm:cxn modelId="{59068DAC-DF23-45D7-A108-FB05034BF267}" srcId="{6D62D4AA-06B4-4909-9F65-17BFA77457F1}" destId="{028678A8-85B8-4CC4-BADA-B4226852762B}" srcOrd="0" destOrd="0" parTransId="{5A8AE973-CB5A-4F27-A900-31BE662EC573}" sibTransId="{D443992A-1771-4579-A03D-E1C5C63210D7}"/>
    <dgm:cxn modelId="{465AD6C4-D41B-4E1C-BF92-0F48B7790198}" type="presOf" srcId="{9C2DEB67-953C-4747-9638-234CF11CC640}" destId="{1B9468BC-F8AF-479D-8B0E-FDD0C86A3F67}" srcOrd="0" destOrd="0" presId="urn:microsoft.com/office/officeart/2005/8/layout/vList3"/>
    <dgm:cxn modelId="{B37730FD-A131-46C7-8A3F-E911B774BC4B}" type="presOf" srcId="{B0DC202F-7331-4C18-BD98-DA95C9E9ABE9}" destId="{84FFF17E-A729-4173-8ACB-B5F256610D97}" srcOrd="0" destOrd="0" presId="urn:microsoft.com/office/officeart/2005/8/layout/vList3"/>
    <dgm:cxn modelId="{3A49167B-EF19-45BE-A4A8-FBDCCC281CF5}" type="presParOf" srcId="{8AFFDED2-9D57-4C27-8604-8FB2800A45C9}" destId="{A4ABFBA1-F570-458C-8E48-71C73C293D72}" srcOrd="0" destOrd="0" presId="urn:microsoft.com/office/officeart/2005/8/layout/vList3"/>
    <dgm:cxn modelId="{BB6D1154-330E-4784-92AD-E70D7B5F4351}" type="presParOf" srcId="{A4ABFBA1-F570-458C-8E48-71C73C293D72}" destId="{F103A125-8C14-49CF-9459-632C2F9F6523}" srcOrd="0" destOrd="0" presId="urn:microsoft.com/office/officeart/2005/8/layout/vList3"/>
    <dgm:cxn modelId="{51C32FE1-B600-4716-91A8-7F465A4A1D73}" type="presParOf" srcId="{A4ABFBA1-F570-458C-8E48-71C73C293D72}" destId="{9BE0A674-2FE4-48EC-85B4-E79C4E548F55}" srcOrd="1" destOrd="0" presId="urn:microsoft.com/office/officeart/2005/8/layout/vList3"/>
    <dgm:cxn modelId="{9FEC39FE-601A-41D9-BE40-A10180358619}" type="presParOf" srcId="{8AFFDED2-9D57-4C27-8604-8FB2800A45C9}" destId="{29708549-1B63-407F-9EAF-21A4795BA8E9}" srcOrd="1" destOrd="0" presId="urn:microsoft.com/office/officeart/2005/8/layout/vList3"/>
    <dgm:cxn modelId="{3DA13078-1FCA-4B91-9AE7-236CFA09072B}" type="presParOf" srcId="{8AFFDED2-9D57-4C27-8604-8FB2800A45C9}" destId="{F3D47B76-2DC8-4726-B2A4-3BCA568399C3}" srcOrd="2" destOrd="0" presId="urn:microsoft.com/office/officeart/2005/8/layout/vList3"/>
    <dgm:cxn modelId="{322A8E36-51DF-47AD-8ED1-1084D17AF1F4}" type="presParOf" srcId="{F3D47B76-2DC8-4726-B2A4-3BCA568399C3}" destId="{9C8C1662-8B95-4D61-A341-BFD3051907D7}" srcOrd="0" destOrd="0" presId="urn:microsoft.com/office/officeart/2005/8/layout/vList3"/>
    <dgm:cxn modelId="{6A450A5C-502C-41A5-98DB-DA69DAB1EFBD}" type="presParOf" srcId="{F3D47B76-2DC8-4726-B2A4-3BCA568399C3}" destId="{84FFF17E-A729-4173-8ACB-B5F256610D97}" srcOrd="1" destOrd="0" presId="urn:microsoft.com/office/officeart/2005/8/layout/vList3"/>
    <dgm:cxn modelId="{C74AA38F-32D5-43F1-87E8-F765EBD83ADA}" type="presParOf" srcId="{8AFFDED2-9D57-4C27-8604-8FB2800A45C9}" destId="{6967AECB-14DB-41EF-8F25-69D8B8D78B63}" srcOrd="3" destOrd="0" presId="urn:microsoft.com/office/officeart/2005/8/layout/vList3"/>
    <dgm:cxn modelId="{FB7251B2-2BFE-4583-83AE-29DBBD2C7686}" type="presParOf" srcId="{8AFFDED2-9D57-4C27-8604-8FB2800A45C9}" destId="{CF08C7ED-0D4D-46A7-BD63-0232AE286386}" srcOrd="4" destOrd="0" presId="urn:microsoft.com/office/officeart/2005/8/layout/vList3"/>
    <dgm:cxn modelId="{227CBE81-1BD5-49A5-80F6-C2D1F6B37560}" type="presParOf" srcId="{CF08C7ED-0D4D-46A7-BD63-0232AE286386}" destId="{1A173B3E-9E18-40A6-9B1D-2EACC53FFF0E}" srcOrd="0" destOrd="0" presId="urn:microsoft.com/office/officeart/2005/8/layout/vList3"/>
    <dgm:cxn modelId="{398C22A1-9954-4859-AFA8-EAF79DA2EEE3}" type="presParOf" srcId="{CF08C7ED-0D4D-46A7-BD63-0232AE286386}" destId="{1B9468BC-F8AF-479D-8B0E-FDD0C86A3F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62D4AA-06B4-4909-9F65-17BFA77457F1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8678A8-85B8-4CC4-BADA-B4226852762B}">
      <dgm:prSet phldrT="[Text]" phldr="0" custT="1"/>
      <dgm:spPr/>
      <dgm:t>
        <a:bodyPr/>
        <a:lstStyle/>
        <a:p>
          <a:r>
            <a:rPr lang="en-IN" sz="2400" dirty="0"/>
            <a:t>Meshing and generation of grids</a:t>
          </a:r>
        </a:p>
      </dgm:t>
    </dgm:pt>
    <dgm:pt modelId="{5A8AE973-CB5A-4F27-A900-31BE662EC573}" type="parTrans" cxnId="{59068DAC-DF23-45D7-A108-FB05034BF267}">
      <dgm:prSet/>
      <dgm:spPr/>
      <dgm:t>
        <a:bodyPr/>
        <a:lstStyle/>
        <a:p>
          <a:endParaRPr lang="en-IN"/>
        </a:p>
      </dgm:t>
    </dgm:pt>
    <dgm:pt modelId="{D443992A-1771-4579-A03D-E1C5C63210D7}" type="sibTrans" cxnId="{59068DAC-DF23-45D7-A108-FB05034BF267}">
      <dgm:prSet/>
      <dgm:spPr/>
      <dgm:t>
        <a:bodyPr/>
        <a:lstStyle/>
        <a:p>
          <a:endParaRPr lang="en-IN"/>
        </a:p>
      </dgm:t>
    </dgm:pt>
    <dgm:pt modelId="{B0DC202F-7331-4C18-BD98-DA95C9E9ABE9}">
      <dgm:prSet phldrT="[Text]" phldr="0"/>
      <dgm:spPr/>
      <dgm:t>
        <a:bodyPr/>
        <a:lstStyle/>
        <a:p>
          <a:r>
            <a:rPr lang="en-IN" dirty="0"/>
            <a:t> </a:t>
          </a:r>
          <a:r>
            <a:rPr lang="en-IN"/>
            <a:t>Boundary conditions and  </a:t>
          </a:r>
          <a:r>
            <a:rPr lang="en-IN" dirty="0"/>
            <a:t>material properties</a:t>
          </a:r>
        </a:p>
      </dgm:t>
    </dgm:pt>
    <dgm:pt modelId="{91975728-8806-41F8-8BAF-5EAA576D3C5D}" type="parTrans" cxnId="{0DF17E41-6C23-48B7-B051-1D3B566502C6}">
      <dgm:prSet/>
      <dgm:spPr/>
      <dgm:t>
        <a:bodyPr/>
        <a:lstStyle/>
        <a:p>
          <a:endParaRPr lang="en-IN"/>
        </a:p>
      </dgm:t>
    </dgm:pt>
    <dgm:pt modelId="{822BA77D-B7C9-4143-8343-C52F3FFB3B7D}" type="sibTrans" cxnId="{0DF17E41-6C23-48B7-B051-1D3B566502C6}">
      <dgm:prSet/>
      <dgm:spPr/>
      <dgm:t>
        <a:bodyPr/>
        <a:lstStyle/>
        <a:p>
          <a:endParaRPr lang="en-IN"/>
        </a:p>
      </dgm:t>
    </dgm:pt>
    <dgm:pt modelId="{9C2DEB67-953C-4747-9638-234CF11CC640}">
      <dgm:prSet phldrT="[Text]" phldr="0" custT="1"/>
      <dgm:spPr/>
      <dgm:t>
        <a:bodyPr/>
        <a:lstStyle/>
        <a:p>
          <a:r>
            <a:rPr lang="en-IN" sz="2800" dirty="0"/>
            <a:t>Post processing</a:t>
          </a:r>
        </a:p>
      </dgm:t>
    </dgm:pt>
    <dgm:pt modelId="{CB598D82-BAC7-4020-B6A4-3B6D1D148C03}" type="parTrans" cxnId="{C4D79963-EF5F-4A42-914D-F1F828E18D9C}">
      <dgm:prSet/>
      <dgm:spPr/>
      <dgm:t>
        <a:bodyPr/>
        <a:lstStyle/>
        <a:p>
          <a:endParaRPr lang="en-IN"/>
        </a:p>
      </dgm:t>
    </dgm:pt>
    <dgm:pt modelId="{4F7A97B1-1BAD-4655-9D99-67993A6AB01D}" type="sibTrans" cxnId="{C4D79963-EF5F-4A42-914D-F1F828E18D9C}">
      <dgm:prSet/>
      <dgm:spPr/>
      <dgm:t>
        <a:bodyPr/>
        <a:lstStyle/>
        <a:p>
          <a:endParaRPr lang="en-IN"/>
        </a:p>
      </dgm:t>
    </dgm:pt>
    <dgm:pt modelId="{8AFFDED2-9D57-4C27-8604-8FB2800A45C9}" type="pres">
      <dgm:prSet presAssocID="{6D62D4AA-06B4-4909-9F65-17BFA77457F1}" presName="linearFlow" presStyleCnt="0">
        <dgm:presLayoutVars>
          <dgm:dir/>
          <dgm:resizeHandles val="exact"/>
        </dgm:presLayoutVars>
      </dgm:prSet>
      <dgm:spPr/>
    </dgm:pt>
    <dgm:pt modelId="{A4ABFBA1-F570-458C-8E48-71C73C293D72}" type="pres">
      <dgm:prSet presAssocID="{028678A8-85B8-4CC4-BADA-B4226852762B}" presName="composite" presStyleCnt="0"/>
      <dgm:spPr/>
    </dgm:pt>
    <dgm:pt modelId="{F103A125-8C14-49CF-9459-632C2F9F6523}" type="pres">
      <dgm:prSet presAssocID="{028678A8-85B8-4CC4-BADA-B4226852762B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4 with solid fill"/>
        </a:ext>
      </dgm:extLst>
    </dgm:pt>
    <dgm:pt modelId="{9BE0A674-2FE4-48EC-85B4-E79C4E548F55}" type="pres">
      <dgm:prSet presAssocID="{028678A8-85B8-4CC4-BADA-B4226852762B}" presName="txShp" presStyleLbl="node1" presStyleIdx="0" presStyleCnt="3">
        <dgm:presLayoutVars>
          <dgm:bulletEnabled val="1"/>
        </dgm:presLayoutVars>
      </dgm:prSet>
      <dgm:spPr/>
    </dgm:pt>
    <dgm:pt modelId="{29708549-1B63-407F-9EAF-21A4795BA8E9}" type="pres">
      <dgm:prSet presAssocID="{D443992A-1771-4579-A03D-E1C5C63210D7}" presName="spacing" presStyleCnt="0"/>
      <dgm:spPr/>
    </dgm:pt>
    <dgm:pt modelId="{F3D47B76-2DC8-4726-B2A4-3BCA568399C3}" type="pres">
      <dgm:prSet presAssocID="{B0DC202F-7331-4C18-BD98-DA95C9E9ABE9}" presName="composite" presStyleCnt="0"/>
      <dgm:spPr/>
    </dgm:pt>
    <dgm:pt modelId="{9C8C1662-8B95-4D61-A341-BFD3051907D7}" type="pres">
      <dgm:prSet presAssocID="{B0DC202F-7331-4C18-BD98-DA95C9E9ABE9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5 with solid fill"/>
        </a:ext>
      </dgm:extLst>
    </dgm:pt>
    <dgm:pt modelId="{84FFF17E-A729-4173-8ACB-B5F256610D97}" type="pres">
      <dgm:prSet presAssocID="{B0DC202F-7331-4C18-BD98-DA95C9E9ABE9}" presName="txShp" presStyleLbl="node1" presStyleIdx="1" presStyleCnt="3">
        <dgm:presLayoutVars>
          <dgm:bulletEnabled val="1"/>
        </dgm:presLayoutVars>
      </dgm:prSet>
      <dgm:spPr/>
    </dgm:pt>
    <dgm:pt modelId="{6967AECB-14DB-41EF-8F25-69D8B8D78B63}" type="pres">
      <dgm:prSet presAssocID="{822BA77D-B7C9-4143-8343-C52F3FFB3B7D}" presName="spacing" presStyleCnt="0"/>
      <dgm:spPr/>
    </dgm:pt>
    <dgm:pt modelId="{CF08C7ED-0D4D-46A7-BD63-0232AE286386}" type="pres">
      <dgm:prSet presAssocID="{9C2DEB67-953C-4747-9638-234CF11CC640}" presName="composite" presStyleCnt="0"/>
      <dgm:spPr/>
    </dgm:pt>
    <dgm:pt modelId="{1A173B3E-9E18-40A6-9B1D-2EACC53FFF0E}" type="pres">
      <dgm:prSet presAssocID="{9C2DEB67-953C-4747-9638-234CF11CC640}" presName="imgShp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dge 6 with solid fill"/>
        </a:ext>
      </dgm:extLst>
    </dgm:pt>
    <dgm:pt modelId="{1B9468BC-F8AF-479D-8B0E-FDD0C86A3F67}" type="pres">
      <dgm:prSet presAssocID="{9C2DEB67-953C-4747-9638-234CF11CC640}" presName="txShp" presStyleLbl="node1" presStyleIdx="2" presStyleCnt="3" custLinFactNeighborX="4025" custLinFactNeighborY="-266">
        <dgm:presLayoutVars>
          <dgm:bulletEnabled val="1"/>
        </dgm:presLayoutVars>
      </dgm:prSet>
      <dgm:spPr/>
    </dgm:pt>
  </dgm:ptLst>
  <dgm:cxnLst>
    <dgm:cxn modelId="{0DF17E41-6C23-48B7-B051-1D3B566502C6}" srcId="{6D62D4AA-06B4-4909-9F65-17BFA77457F1}" destId="{B0DC202F-7331-4C18-BD98-DA95C9E9ABE9}" srcOrd="1" destOrd="0" parTransId="{91975728-8806-41F8-8BAF-5EAA576D3C5D}" sibTransId="{822BA77D-B7C9-4143-8343-C52F3FFB3B7D}"/>
    <dgm:cxn modelId="{C4D79963-EF5F-4A42-914D-F1F828E18D9C}" srcId="{6D62D4AA-06B4-4909-9F65-17BFA77457F1}" destId="{9C2DEB67-953C-4747-9638-234CF11CC640}" srcOrd="2" destOrd="0" parTransId="{CB598D82-BAC7-4020-B6A4-3B6D1D148C03}" sibTransId="{4F7A97B1-1BAD-4655-9D99-67993A6AB01D}"/>
    <dgm:cxn modelId="{63D14F46-5D2A-446A-B5CF-DE5D2EEE38C8}" type="presOf" srcId="{028678A8-85B8-4CC4-BADA-B4226852762B}" destId="{9BE0A674-2FE4-48EC-85B4-E79C4E548F55}" srcOrd="0" destOrd="0" presId="urn:microsoft.com/office/officeart/2005/8/layout/vList3"/>
    <dgm:cxn modelId="{66B2D679-C9B9-4C7F-8E73-1DEB7B5F1C5F}" type="presOf" srcId="{6D62D4AA-06B4-4909-9F65-17BFA77457F1}" destId="{8AFFDED2-9D57-4C27-8604-8FB2800A45C9}" srcOrd="0" destOrd="0" presId="urn:microsoft.com/office/officeart/2005/8/layout/vList3"/>
    <dgm:cxn modelId="{59068DAC-DF23-45D7-A108-FB05034BF267}" srcId="{6D62D4AA-06B4-4909-9F65-17BFA77457F1}" destId="{028678A8-85B8-4CC4-BADA-B4226852762B}" srcOrd="0" destOrd="0" parTransId="{5A8AE973-CB5A-4F27-A900-31BE662EC573}" sibTransId="{D443992A-1771-4579-A03D-E1C5C63210D7}"/>
    <dgm:cxn modelId="{465AD6C4-D41B-4E1C-BF92-0F48B7790198}" type="presOf" srcId="{9C2DEB67-953C-4747-9638-234CF11CC640}" destId="{1B9468BC-F8AF-479D-8B0E-FDD0C86A3F67}" srcOrd="0" destOrd="0" presId="urn:microsoft.com/office/officeart/2005/8/layout/vList3"/>
    <dgm:cxn modelId="{B37730FD-A131-46C7-8A3F-E911B774BC4B}" type="presOf" srcId="{B0DC202F-7331-4C18-BD98-DA95C9E9ABE9}" destId="{84FFF17E-A729-4173-8ACB-B5F256610D97}" srcOrd="0" destOrd="0" presId="urn:microsoft.com/office/officeart/2005/8/layout/vList3"/>
    <dgm:cxn modelId="{3A49167B-EF19-45BE-A4A8-FBDCCC281CF5}" type="presParOf" srcId="{8AFFDED2-9D57-4C27-8604-8FB2800A45C9}" destId="{A4ABFBA1-F570-458C-8E48-71C73C293D72}" srcOrd="0" destOrd="0" presId="urn:microsoft.com/office/officeart/2005/8/layout/vList3"/>
    <dgm:cxn modelId="{BB6D1154-330E-4784-92AD-E70D7B5F4351}" type="presParOf" srcId="{A4ABFBA1-F570-458C-8E48-71C73C293D72}" destId="{F103A125-8C14-49CF-9459-632C2F9F6523}" srcOrd="0" destOrd="0" presId="urn:microsoft.com/office/officeart/2005/8/layout/vList3"/>
    <dgm:cxn modelId="{51C32FE1-B600-4716-91A8-7F465A4A1D73}" type="presParOf" srcId="{A4ABFBA1-F570-458C-8E48-71C73C293D72}" destId="{9BE0A674-2FE4-48EC-85B4-E79C4E548F55}" srcOrd="1" destOrd="0" presId="urn:microsoft.com/office/officeart/2005/8/layout/vList3"/>
    <dgm:cxn modelId="{9FEC39FE-601A-41D9-BE40-A10180358619}" type="presParOf" srcId="{8AFFDED2-9D57-4C27-8604-8FB2800A45C9}" destId="{29708549-1B63-407F-9EAF-21A4795BA8E9}" srcOrd="1" destOrd="0" presId="urn:microsoft.com/office/officeart/2005/8/layout/vList3"/>
    <dgm:cxn modelId="{3DA13078-1FCA-4B91-9AE7-236CFA09072B}" type="presParOf" srcId="{8AFFDED2-9D57-4C27-8604-8FB2800A45C9}" destId="{F3D47B76-2DC8-4726-B2A4-3BCA568399C3}" srcOrd="2" destOrd="0" presId="urn:microsoft.com/office/officeart/2005/8/layout/vList3"/>
    <dgm:cxn modelId="{322A8E36-51DF-47AD-8ED1-1084D17AF1F4}" type="presParOf" srcId="{F3D47B76-2DC8-4726-B2A4-3BCA568399C3}" destId="{9C8C1662-8B95-4D61-A341-BFD3051907D7}" srcOrd="0" destOrd="0" presId="urn:microsoft.com/office/officeart/2005/8/layout/vList3"/>
    <dgm:cxn modelId="{6A450A5C-502C-41A5-98DB-DA69DAB1EFBD}" type="presParOf" srcId="{F3D47B76-2DC8-4726-B2A4-3BCA568399C3}" destId="{84FFF17E-A729-4173-8ACB-B5F256610D97}" srcOrd="1" destOrd="0" presId="urn:microsoft.com/office/officeart/2005/8/layout/vList3"/>
    <dgm:cxn modelId="{C74AA38F-32D5-43F1-87E8-F765EBD83ADA}" type="presParOf" srcId="{8AFFDED2-9D57-4C27-8604-8FB2800A45C9}" destId="{6967AECB-14DB-41EF-8F25-69D8B8D78B63}" srcOrd="3" destOrd="0" presId="urn:microsoft.com/office/officeart/2005/8/layout/vList3"/>
    <dgm:cxn modelId="{FB7251B2-2BFE-4583-83AE-29DBBD2C7686}" type="presParOf" srcId="{8AFFDED2-9D57-4C27-8604-8FB2800A45C9}" destId="{CF08C7ED-0D4D-46A7-BD63-0232AE286386}" srcOrd="4" destOrd="0" presId="urn:microsoft.com/office/officeart/2005/8/layout/vList3"/>
    <dgm:cxn modelId="{227CBE81-1BD5-49A5-80F6-C2D1F6B37560}" type="presParOf" srcId="{CF08C7ED-0D4D-46A7-BD63-0232AE286386}" destId="{1A173B3E-9E18-40A6-9B1D-2EACC53FFF0E}" srcOrd="0" destOrd="0" presId="urn:microsoft.com/office/officeart/2005/8/layout/vList3"/>
    <dgm:cxn modelId="{398C22A1-9954-4859-AFA8-EAF79DA2EEE3}" type="presParOf" srcId="{CF08C7ED-0D4D-46A7-BD63-0232AE286386}" destId="{1B9468BC-F8AF-479D-8B0E-FDD0C86A3F6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0A674-2FE4-48EC-85B4-E79C4E548F55}">
      <dsp:nvSpPr>
        <dsp:cNvPr id="0" name=""/>
        <dsp:cNvSpPr/>
      </dsp:nvSpPr>
      <dsp:spPr>
        <a:xfrm rot="10800000">
          <a:off x="1314607" y="1352"/>
          <a:ext cx="3803878" cy="142595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805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Geometry development</a:t>
          </a:r>
        </a:p>
      </dsp:txBody>
      <dsp:txXfrm rot="10800000">
        <a:off x="1671095" y="1352"/>
        <a:ext cx="3447390" cy="1425951"/>
      </dsp:txXfrm>
    </dsp:sp>
    <dsp:sp modelId="{F103A125-8C14-49CF-9459-632C2F9F6523}">
      <dsp:nvSpPr>
        <dsp:cNvPr id="0" name=""/>
        <dsp:cNvSpPr/>
      </dsp:nvSpPr>
      <dsp:spPr>
        <a:xfrm>
          <a:off x="601631" y="1352"/>
          <a:ext cx="1425951" cy="14259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FF17E-A729-4173-8ACB-B5F256610D97}">
      <dsp:nvSpPr>
        <dsp:cNvPr id="0" name=""/>
        <dsp:cNvSpPr/>
      </dsp:nvSpPr>
      <dsp:spPr>
        <a:xfrm rot="10800000">
          <a:off x="1314607" y="1852961"/>
          <a:ext cx="3803878" cy="142595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805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 err="1"/>
            <a:t>OpenFOAM</a:t>
          </a:r>
          <a:r>
            <a:rPr lang="en-IN" sz="3000" kern="1200" dirty="0"/>
            <a:t> solver selection</a:t>
          </a:r>
        </a:p>
      </dsp:txBody>
      <dsp:txXfrm rot="10800000">
        <a:off x="1671095" y="1852961"/>
        <a:ext cx="3447390" cy="1425951"/>
      </dsp:txXfrm>
    </dsp:sp>
    <dsp:sp modelId="{9C8C1662-8B95-4D61-A341-BFD3051907D7}">
      <dsp:nvSpPr>
        <dsp:cNvPr id="0" name=""/>
        <dsp:cNvSpPr/>
      </dsp:nvSpPr>
      <dsp:spPr>
        <a:xfrm>
          <a:off x="601631" y="1852961"/>
          <a:ext cx="1425951" cy="14259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468BC-F8AF-479D-8B0E-FDD0C86A3F67}">
      <dsp:nvSpPr>
        <dsp:cNvPr id="0" name=""/>
        <dsp:cNvSpPr/>
      </dsp:nvSpPr>
      <dsp:spPr>
        <a:xfrm rot="10800000">
          <a:off x="1314607" y="3704570"/>
          <a:ext cx="3803878" cy="142595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805" tIns="114300" rIns="21336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Governing equations</a:t>
          </a:r>
        </a:p>
      </dsp:txBody>
      <dsp:txXfrm rot="10800000">
        <a:off x="1671095" y="3704570"/>
        <a:ext cx="3447390" cy="1425951"/>
      </dsp:txXfrm>
    </dsp:sp>
    <dsp:sp modelId="{1A173B3E-9E18-40A6-9B1D-2EACC53FFF0E}">
      <dsp:nvSpPr>
        <dsp:cNvPr id="0" name=""/>
        <dsp:cNvSpPr/>
      </dsp:nvSpPr>
      <dsp:spPr>
        <a:xfrm>
          <a:off x="601631" y="3704570"/>
          <a:ext cx="1425951" cy="1425951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0A674-2FE4-48EC-85B4-E79C4E548F55}">
      <dsp:nvSpPr>
        <dsp:cNvPr id="0" name=""/>
        <dsp:cNvSpPr/>
      </dsp:nvSpPr>
      <dsp:spPr>
        <a:xfrm rot="10800000">
          <a:off x="1198441" y="1632"/>
          <a:ext cx="3342835" cy="142579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736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Meshing and generation of grids</a:t>
          </a:r>
        </a:p>
      </dsp:txBody>
      <dsp:txXfrm rot="10800000">
        <a:off x="1554890" y="1632"/>
        <a:ext cx="2986386" cy="1425795"/>
      </dsp:txXfrm>
    </dsp:sp>
    <dsp:sp modelId="{F103A125-8C14-49CF-9459-632C2F9F6523}">
      <dsp:nvSpPr>
        <dsp:cNvPr id="0" name=""/>
        <dsp:cNvSpPr/>
      </dsp:nvSpPr>
      <dsp:spPr>
        <a:xfrm>
          <a:off x="485543" y="1632"/>
          <a:ext cx="1425795" cy="14257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FF17E-A729-4173-8ACB-B5F256610D97}">
      <dsp:nvSpPr>
        <dsp:cNvPr id="0" name=""/>
        <dsp:cNvSpPr/>
      </dsp:nvSpPr>
      <dsp:spPr>
        <a:xfrm rot="10800000">
          <a:off x="1198441" y="1853039"/>
          <a:ext cx="3342835" cy="142579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736" tIns="83820" rIns="156464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 </a:t>
          </a:r>
          <a:r>
            <a:rPr lang="en-IN" sz="2200" kern="1200"/>
            <a:t>Boundary conditions and  </a:t>
          </a:r>
          <a:r>
            <a:rPr lang="en-IN" sz="2200" kern="1200" dirty="0"/>
            <a:t>material properties</a:t>
          </a:r>
        </a:p>
      </dsp:txBody>
      <dsp:txXfrm rot="10800000">
        <a:off x="1554890" y="1853039"/>
        <a:ext cx="2986386" cy="1425795"/>
      </dsp:txXfrm>
    </dsp:sp>
    <dsp:sp modelId="{9C8C1662-8B95-4D61-A341-BFD3051907D7}">
      <dsp:nvSpPr>
        <dsp:cNvPr id="0" name=""/>
        <dsp:cNvSpPr/>
      </dsp:nvSpPr>
      <dsp:spPr>
        <a:xfrm>
          <a:off x="485543" y="1853039"/>
          <a:ext cx="1425795" cy="14257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468BC-F8AF-479D-8B0E-FDD0C86A3F67}">
      <dsp:nvSpPr>
        <dsp:cNvPr id="0" name=""/>
        <dsp:cNvSpPr/>
      </dsp:nvSpPr>
      <dsp:spPr>
        <a:xfrm rot="10800000">
          <a:off x="1332990" y="3700653"/>
          <a:ext cx="3342835" cy="142579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8736" tIns="106680" rIns="199136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/>
            <a:t>Post processing</a:t>
          </a:r>
        </a:p>
      </dsp:txBody>
      <dsp:txXfrm rot="10800000">
        <a:off x="1689439" y="3700653"/>
        <a:ext cx="2986386" cy="1425795"/>
      </dsp:txXfrm>
    </dsp:sp>
    <dsp:sp modelId="{1A173B3E-9E18-40A6-9B1D-2EACC53FFF0E}">
      <dsp:nvSpPr>
        <dsp:cNvPr id="0" name=""/>
        <dsp:cNvSpPr/>
      </dsp:nvSpPr>
      <dsp:spPr>
        <a:xfrm>
          <a:off x="485543" y="3704445"/>
          <a:ext cx="1425795" cy="142579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46EA0-FB59-4F54-8F27-8CAF8A7A36B1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FAEFD-D4D8-4711-9B9E-794545F8C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93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FAEFD-D4D8-4711-9B9E-794545F8C11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33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FAEFD-D4D8-4711-9B9E-794545F8C11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681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1.CONSERVATION OF MASS, NO ACCUMULATION OF FLUID INSIDE THE CONTROL VOLUME.</a:t>
            </a:r>
          </a:p>
          <a:p>
            <a:r>
              <a:rPr lang="en-IN" dirty="0"/>
              <a:t>Divergence of velocity:</a:t>
            </a:r>
          </a:p>
          <a:p>
            <a:r>
              <a:rPr lang="en-IN" dirty="0"/>
              <a:t>2.This equation comes from newtons second law(F=ma)</a:t>
            </a:r>
          </a:p>
          <a:p>
            <a:r>
              <a:rPr lang="en-IN" dirty="0"/>
              <a:t>Conservation acceleration term, even in steady flow, velocity may change with space</a:t>
            </a:r>
          </a:p>
          <a:p>
            <a:r>
              <a:rPr lang="en-IN" dirty="0"/>
              <a:t>Viscous diffusion of momentum, internal frictional resistance</a:t>
            </a:r>
          </a:p>
          <a:p>
            <a:r>
              <a:rPr lang="en-IN" dirty="0"/>
              <a:t>3. Convective heat transfer term (bulk motion) in flowing fluid</a:t>
            </a:r>
          </a:p>
          <a:p>
            <a:r>
              <a:rPr lang="en-IN" dirty="0"/>
              <a:t>Heat conduction term(diffusion)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FAEFD-D4D8-4711-9B9E-794545F8C11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68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BC76-9281-4CE5-EEC7-25745350B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CDF71-1B74-E7EF-F11C-BDC8A7F13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B133F-CAA0-3455-46B8-5FFF74845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54FC7-7C5F-44BE-8102-0E1C9A8BC291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F0E53-F53E-44D8-CCBA-372AD3A8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60D13-5B68-2161-B35C-763D712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038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4560-2E50-3505-08D5-E6857988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97A9-87C1-9621-3A75-D2868575B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FDEA-5D50-9040-90A9-4D1218E63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81C18-5D57-4541-B482-9B006E6989C4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7DBF7-454F-2177-9AFC-8C6FB5A31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660-915C-3BA9-B89C-A8CECA8D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61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7774-B096-AAD0-6176-EE5088ED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584A6-8232-8BC7-7353-3AB01AC4F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7B2AE-CA37-639A-1EBA-FAAD812E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1BD8-CB7A-46B4-9FA4-201E9CE66A5B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651FC-DC4B-19F7-D52C-CA51A372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81BEE-3573-E95C-935C-FB15C844C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06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97B7-D377-17C7-6483-7074DFBFA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8D757-FBD5-7BAE-C102-FA386B58D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EBCCC-6AB8-2549-845B-36D04A1ED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8BC4B-ED24-4850-79B6-D532E13A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4D757-06CA-4F7E-AF59-6CC435A36C78}" type="datetime1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79942-2496-CEAE-7B1C-41685705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BB573-8A27-2687-5739-6EF8642F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95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310B6-FB43-1212-E3A8-BD85B0883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96DCD-047E-5B90-A3E0-E72C29F29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8D733-2944-D846-87FB-2ABA53DFC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CA7E9-6B17-B036-C415-02BC368CA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1355A-E403-030C-7527-2F89999C2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7298E-D9E3-22B7-6EB7-B3D4FAA2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7355F-C07A-4B4A-B963-C732ABC7DDC4}" type="datetime1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F9C0F9-6BD5-5015-EA0D-7D19E449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B5636-B9BD-79C2-75FF-558110C5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57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5583-98E2-85B6-F93F-C9DDACD8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AEB883-B14F-3249-8A05-34B8C5D8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86329-0398-435B-8894-3524384562E2}" type="datetime1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3677-0256-B4F7-919D-451D0FC1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CC638-D170-71F7-D434-32F2DD4E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A412F-5CB2-0821-B921-E567CE9E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B99F9-0059-43FA-B43F-571825F1B96E}" type="datetime1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097B3-B337-680D-11E6-6B236EF2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A8C91-BBA4-5A04-1B3C-DA255A127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56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CD42-7F4C-6CB4-A45B-86DF5B93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770DD-0A1B-B8EC-E235-7C41DFD8F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FA8BE-B8B3-50CC-E515-624B3ECAD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F607E-7346-3007-52E0-8B408073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C6B84-2FAA-4DD2-8809-A44A777D15EA}" type="datetime1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0C2FA9-096E-0A8E-B8F5-3A77841B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2016F-031F-14B6-7059-A3A77800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48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D33-3446-55B7-C207-BC0FC080B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159BE-6F51-F517-74EE-9BD3A2A04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595AE-F91D-43D9-09E3-91455FC04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F4DBA-46BB-DCF9-4920-E3F383B7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FFA10-A409-444B-BAB4-40651E1FB083}" type="datetime1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27ED5-C0AF-9697-EB50-9FD904702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5382C-59D9-F539-BC18-B0A219CE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92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FF5BE-2F9B-5823-C7E7-B0555816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9BF44-7966-4010-D8A8-C4E270E33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88EAB-5527-26C3-A864-2B7C0ABD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CD91-4C41-4870-B48C-2E6B7EE12494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56044-52E8-D366-70FB-E1E0F59A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8D64F-F47E-FD28-5244-2815287D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22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067C30-27CF-624E-57E8-5D1A12E31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99AD4-C2A1-B5A2-570D-243BF83B5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635D5-7E5E-9D4E-1FFC-B3C7991F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4488-3214-482E-8936-CF7CF58F15D7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5CC4C-CBD8-A1AF-4842-1FBD514FC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03F5-DE75-8EFA-B8AD-7BB03FC6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91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5417D-0AD7-52C0-CE30-1BE41313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24A43-CF72-B8D2-1789-8D835461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3C67F-4456-45C6-271D-5EA8916FB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662D7-107A-4079-A26F-3F4549E1DCA5}" type="datetime1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89DBA-FBB7-E62C-FAEC-7049471C8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D4A3-89E1-C4C8-C6D4-D4973197E9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26AEC-172F-4B37-BCDC-CD1C39A67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86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1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image" Target="../media/image2.png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19" Type="http://schemas.openxmlformats.org/officeDocument/2006/relationships/image" Target="../media/image13.png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946AFFC-F32D-1050-E3A6-A1B810CCEF95}"/>
              </a:ext>
            </a:extLst>
          </p:cNvPr>
          <p:cNvSpPr txBox="1"/>
          <p:nvPr/>
        </p:nvSpPr>
        <p:spPr>
          <a:xfrm>
            <a:off x="1858782" y="389386"/>
            <a:ext cx="933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CFD 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close loop enhanced geothermal system</a:t>
            </a:r>
          </a:p>
        </p:txBody>
      </p:sp>
      <p:sp>
        <p:nvSpPr>
          <p:cNvPr id="17" name="AutoShape 2" descr="Download your corrected white-background image">
            <a:extLst>
              <a:ext uri="{FF2B5EF4-FFF2-40B4-BE49-F238E27FC236}">
                <a16:creationId xmlns:a16="http://schemas.microsoft.com/office/drawing/2014/main" id="{99847436-016A-1EB0-46C2-09C708A0C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950833-0EF8-6F52-A66B-59C401A30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285" y="1434536"/>
            <a:ext cx="6662230" cy="38415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C59FA29-1E38-471D-7F8E-06300E6B96D6}"/>
              </a:ext>
            </a:extLst>
          </p:cNvPr>
          <p:cNvSpPr txBox="1"/>
          <p:nvPr/>
        </p:nvSpPr>
        <p:spPr>
          <a:xfrm>
            <a:off x="126440" y="4982025"/>
            <a:ext cx="6121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Harshwardhan H.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Katkar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3A976A-97C4-265B-C405-AEA520C485D1}"/>
              </a:ext>
            </a:extLst>
          </p:cNvPr>
          <p:cNvSpPr txBox="1"/>
          <p:nvPr/>
        </p:nvSpPr>
        <p:spPr>
          <a:xfrm>
            <a:off x="8355319" y="4982025"/>
            <a:ext cx="35142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By: Suraj Choudhary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241020035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C38A8B-5667-BC25-FF54-9210668B6AE2}"/>
              </a:ext>
            </a:extLst>
          </p:cNvPr>
          <p:cNvCxnSpPr/>
          <p:nvPr/>
        </p:nvCxnSpPr>
        <p:spPr>
          <a:xfrm>
            <a:off x="680851" y="284813"/>
            <a:ext cx="1113509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435B73-5203-793C-A434-94798EF600AE}"/>
              </a:ext>
            </a:extLst>
          </p:cNvPr>
          <p:cNvCxnSpPr/>
          <p:nvPr/>
        </p:nvCxnSpPr>
        <p:spPr>
          <a:xfrm>
            <a:off x="680851" y="1681396"/>
            <a:ext cx="1113509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E8ACA-EC39-5D00-01A3-E51DEDC8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sz="28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9823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9FF239-6965-8361-FA2B-7D90FF24A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C45AF2-98EC-4D63-3F38-C3A4FA9840A4}"/>
              </a:ext>
            </a:extLst>
          </p:cNvPr>
          <p:cNvSpPr txBox="1"/>
          <p:nvPr/>
        </p:nvSpPr>
        <p:spPr>
          <a:xfrm>
            <a:off x="159657" y="201759"/>
            <a:ext cx="2833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Motivation: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D68574-232D-04B0-376C-AD5A4F2DB7D9}"/>
              </a:ext>
            </a:extLst>
          </p:cNvPr>
          <p:cNvSpPr txBox="1"/>
          <p:nvPr/>
        </p:nvSpPr>
        <p:spPr>
          <a:xfrm>
            <a:off x="142287" y="1423565"/>
            <a:ext cx="563154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High cost </a:t>
            </a:r>
            <a:r>
              <a:rPr lang="en-IN" sz="2400" dirty="0"/>
              <a:t>of conventional geothermal systems (multiple-wells).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Limited applicability </a:t>
            </a:r>
            <a:r>
              <a:rPr lang="en-IN" sz="2400" dirty="0"/>
              <a:t>to high-temperature reservoirs only.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Environment concerns </a:t>
            </a:r>
            <a:r>
              <a:rPr lang="en-IN" sz="2400" dirty="0"/>
              <a:t>from fluid extraction and re-injection.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Need</a:t>
            </a:r>
            <a:r>
              <a:rPr lang="en-IN" sz="2400" dirty="0"/>
              <a:t> for a </a:t>
            </a:r>
            <a:r>
              <a:rPr lang="en-IN" sz="2400" b="1" dirty="0"/>
              <a:t>cost-effective</a:t>
            </a:r>
            <a:r>
              <a:rPr lang="en-IN" sz="2400" dirty="0"/>
              <a:t>, </a:t>
            </a:r>
            <a:r>
              <a:rPr lang="en-IN" sz="2400" b="1" dirty="0"/>
              <a:t>sustainable</a:t>
            </a:r>
            <a:r>
              <a:rPr lang="en-IN" sz="2400" dirty="0"/>
              <a:t> solution (closed loop system).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3074" name="Picture 2" descr="Fig. (5)">
            <a:extLst>
              <a:ext uri="{FF2B5EF4-FFF2-40B4-BE49-F238E27FC236}">
                <a16:creationId xmlns:a16="http://schemas.microsoft.com/office/drawing/2014/main" id="{9AB53663-0A4E-2F93-4006-904E42830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24723"/>
            <a:ext cx="3645445" cy="262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E30167-32CC-1559-E4D9-21E23E394D83}"/>
              </a:ext>
            </a:extLst>
          </p:cNvPr>
          <p:cNvSpPr txBox="1"/>
          <p:nvPr/>
        </p:nvSpPr>
        <p:spPr>
          <a:xfrm>
            <a:off x="9741445" y="1869163"/>
            <a:ext cx="3790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Georgia Pro" panose="020F0502020204030204" pitchFamily="18" charset="0"/>
                <a:cs typeface="Dreaming Outloud Pro" panose="020F0502020204030204" pitchFamily="66" charset="0"/>
              </a:rPr>
              <a:t>Abdulrazzaq et al. (2026)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979D9-F21C-B054-159A-E9F04BF5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</a:t>
            </a:fld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6985A-54B7-595D-80E9-240F85E01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05" t="-1" r="13923" b="-4831"/>
          <a:stretch>
            <a:fillRect/>
          </a:stretch>
        </p:blipFill>
        <p:spPr>
          <a:xfrm>
            <a:off x="6172389" y="3487028"/>
            <a:ext cx="4174383" cy="323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13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2C3CD-A208-73B8-85BD-34242B76E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FFC57F-7747-D049-12A6-6A0193F57B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E9B82A-91C9-BEF4-8B31-8683B0B3CD75}"/>
              </a:ext>
            </a:extLst>
          </p:cNvPr>
          <p:cNvSpPr txBox="1"/>
          <p:nvPr/>
        </p:nvSpPr>
        <p:spPr>
          <a:xfrm>
            <a:off x="254833" y="46495"/>
            <a:ext cx="474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Literature review</a:t>
            </a:r>
            <a:r>
              <a:rPr lang="en-IN" sz="4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C546B5-52DA-138C-2247-D42E69C81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962" y="969144"/>
            <a:ext cx="4342299" cy="52685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EA0D5F-02F6-C57B-F4ED-9B7CEEB2A899}"/>
              </a:ext>
            </a:extLst>
          </p:cNvPr>
          <p:cNvSpPr txBox="1"/>
          <p:nvPr/>
        </p:nvSpPr>
        <p:spPr>
          <a:xfrm>
            <a:off x="7360170" y="6237667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Georgia Pro" panose="02040502050405020303" pitchFamily="18" charset="0"/>
              </a:rPr>
              <a:t>S. Pokhrel et al. (2022)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7A46E4-7A92-56E1-DF82-979C548B2D56}"/>
              </a:ext>
            </a:extLst>
          </p:cNvPr>
          <p:cNvSpPr txBox="1"/>
          <p:nvPr/>
        </p:nvSpPr>
        <p:spPr>
          <a:xfrm>
            <a:off x="131608" y="1378674"/>
            <a:ext cx="65310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D2137"/>
                </a:solidFill>
                <a:latin typeface="Aptos" panose="020B0004020202020204" pitchFamily="34" charset="0"/>
                <a:ea typeface="Calibri" pitchFamily="34" charset="-122"/>
                <a:cs typeface="Arial" panose="020B0604020202020204" pitchFamily="34" charset="0"/>
              </a:rPr>
              <a:t>Pokhrel et al. (2022) – Field Experiment</a:t>
            </a:r>
          </a:p>
          <a:p>
            <a:endParaRPr lang="en-US" b="1" dirty="0">
              <a:solidFill>
                <a:srgbClr val="0D2137"/>
              </a:solidFill>
              <a:latin typeface="Aptos" panose="020B00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r>
              <a:rPr lang="en-US" sz="2000" dirty="0"/>
              <a:t>The temperature profiles show progressive thermal depletion along the 500 m borehole over 21 days of operation.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B5DD12-E538-674A-8BBA-769D29532E79}"/>
              </a:ext>
            </a:extLst>
          </p:cNvPr>
          <p:cNvSpPr txBox="1"/>
          <p:nvPr/>
        </p:nvSpPr>
        <p:spPr>
          <a:xfrm>
            <a:off x="131608" y="3603405"/>
            <a:ext cx="624435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Gap Addressed by Present Study</a:t>
            </a:r>
            <a:endParaRPr lang="en-US" sz="2000" dirty="0"/>
          </a:p>
          <a:p>
            <a:endParaRPr lang="en-US" sz="2000" dirty="0">
              <a:solidFill>
                <a:srgbClr val="333333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sz="20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Prior transient model (Pokhrel et al.) did not evaluate </a:t>
            </a:r>
            <a:r>
              <a:rPr lang="en-US" sz="2000" b="1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net useful energy</a:t>
            </a:r>
            <a:r>
              <a:rPr lang="en-US" sz="20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. This work adds steady-state CFD analysis and subtracts </a:t>
            </a:r>
            <a:r>
              <a:rPr lang="en-US" sz="2000" b="1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pumping losses </a:t>
            </a:r>
            <a:r>
              <a:rPr lang="en-US" sz="2000" dirty="0">
                <a:solidFill>
                  <a:srgbClr val="333333"/>
                </a:solidFill>
                <a:ea typeface="Calibri" pitchFamily="34" charset="-122"/>
                <a:cs typeface="Calibri" pitchFamily="34" charset="-120"/>
              </a:rPr>
              <a:t>to quantify true efficiency.</a:t>
            </a:r>
            <a:endParaRPr lang="en-US" sz="2000" dirty="0"/>
          </a:p>
          <a:p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A3519ED-51EF-C625-3DCE-27C76C03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3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28809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E5DA-3FDC-67D3-41DF-98910CEE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7CDFAF-9FD4-6AA9-3CA1-5055B5FF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56A8CA-9422-C2D3-B41F-D37AD9C58B1D}"/>
              </a:ext>
            </a:extLst>
          </p:cNvPr>
          <p:cNvSpPr txBox="1"/>
          <p:nvPr/>
        </p:nvSpPr>
        <p:spPr>
          <a:xfrm>
            <a:off x="232228" y="201759"/>
            <a:ext cx="661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Methodology: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BAC2071-8DD1-8715-9BBE-C993233A8F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1931935"/>
              </p:ext>
            </p:extLst>
          </p:nvPr>
        </p:nvGraphicFramePr>
        <p:xfrm>
          <a:off x="374754" y="1978702"/>
          <a:ext cx="3792512" cy="4677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60C07D2-1603-AA3C-08B4-4928BAFEC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2150367"/>
              </p:ext>
            </p:extLst>
          </p:nvPr>
        </p:nvGraphicFramePr>
        <p:xfrm>
          <a:off x="-428590" y="1276296"/>
          <a:ext cx="5720118" cy="513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7EB7B0E8-4B6A-8A11-00DB-714EE3D0C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053865"/>
              </p:ext>
            </p:extLst>
          </p:nvPr>
        </p:nvGraphicFramePr>
        <p:xfrm>
          <a:off x="7221393" y="1111404"/>
          <a:ext cx="5026821" cy="5131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0C38FAB-D2B1-B719-C3D8-779BDBAA4CEB}"/>
              </a:ext>
            </a:extLst>
          </p:cNvPr>
          <p:cNvPicPr/>
          <p:nvPr/>
        </p:nvPicPr>
        <p:blipFill>
          <a:blip r:embed="rId18"/>
          <a:stretch/>
        </p:blipFill>
        <p:spPr>
          <a:xfrm>
            <a:off x="4970608" y="2174075"/>
            <a:ext cx="3054128" cy="1094077"/>
          </a:xfrm>
          <a:prstGeom prst="rect">
            <a:avLst/>
          </a:prstGeom>
          <a:ln w="0">
            <a:noFill/>
          </a:ln>
        </p:spPr>
      </p:pic>
      <p:pic>
        <p:nvPicPr>
          <p:cNvPr id="1026" name="Picture 2" descr="ParaView 5.9.1 Torrents">
            <a:extLst>
              <a:ext uri="{FF2B5EF4-FFF2-40B4-BE49-F238E27FC236}">
                <a16:creationId xmlns:a16="http://schemas.microsoft.com/office/drawing/2014/main" id="{08525005-24E0-86FC-BDDD-5949DE885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660" y="3884022"/>
            <a:ext cx="2930245" cy="1640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A085D2-8450-7EF6-8388-808417F2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4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0306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22A9-84AF-B4EC-8320-7962EA30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239917-3525-6AF9-F7E8-13845C64DD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E62BCD-596C-0158-D073-3F77C56CC8EC}"/>
              </a:ext>
            </a:extLst>
          </p:cNvPr>
          <p:cNvSpPr txBox="1"/>
          <p:nvPr/>
        </p:nvSpPr>
        <p:spPr>
          <a:xfrm>
            <a:off x="232228" y="201759"/>
            <a:ext cx="661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Geometry: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936DA0F-51D4-7B8A-1694-81C5F032FE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6"/>
          <a:stretch>
            <a:fillRect/>
          </a:stretch>
        </p:blipFill>
        <p:spPr bwMode="auto">
          <a:xfrm>
            <a:off x="8259581" y="909645"/>
            <a:ext cx="3446255" cy="230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1A267D-34CA-FC22-3E91-35416053F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778256"/>
              </p:ext>
            </p:extLst>
          </p:nvPr>
        </p:nvGraphicFramePr>
        <p:xfrm>
          <a:off x="488013" y="1482083"/>
          <a:ext cx="5478072" cy="4785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024">
                  <a:extLst>
                    <a:ext uri="{9D8B030D-6E8A-4147-A177-3AD203B41FA5}">
                      <a16:colId xmlns:a16="http://schemas.microsoft.com/office/drawing/2014/main" val="3118235800"/>
                    </a:ext>
                  </a:extLst>
                </a:gridCol>
                <a:gridCol w="1826024">
                  <a:extLst>
                    <a:ext uri="{9D8B030D-6E8A-4147-A177-3AD203B41FA5}">
                      <a16:colId xmlns:a16="http://schemas.microsoft.com/office/drawing/2014/main" val="1992917181"/>
                    </a:ext>
                  </a:extLst>
                </a:gridCol>
                <a:gridCol w="1826024">
                  <a:extLst>
                    <a:ext uri="{9D8B030D-6E8A-4147-A177-3AD203B41FA5}">
                      <a16:colId xmlns:a16="http://schemas.microsoft.com/office/drawing/2014/main" val="2562532261"/>
                    </a:ext>
                  </a:extLst>
                </a:gridCol>
              </a:tblGrid>
              <a:tr h="119630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Structure</a:t>
                      </a:r>
                    </a:p>
                    <a:p>
                      <a:pPr algn="ctr"/>
                      <a:r>
                        <a:rPr lang="en-IN" sz="20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Conductor</a:t>
                      </a:r>
                    </a:p>
                    <a:p>
                      <a:pPr algn="ctr"/>
                      <a:r>
                        <a:rPr lang="en-IN" sz="2000" dirty="0"/>
                        <a:t>Pipe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Insulated Pipe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28245"/>
                  </a:ext>
                </a:extLst>
              </a:tr>
              <a:tr h="119630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Inner diameter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323.4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207.7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733939"/>
                  </a:ext>
                </a:extLst>
              </a:tr>
              <a:tr h="119630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Outer diameter (mm)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355.6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228.6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8091270"/>
                  </a:ext>
                </a:extLst>
              </a:tr>
              <a:tr h="1196303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Depth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43056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EFAFC0E-C406-54FE-8F3A-FF2300A85D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105" t="-1" r="13923" b="-4831"/>
          <a:stretch>
            <a:fillRect/>
          </a:stretch>
        </p:blipFill>
        <p:spPr>
          <a:xfrm>
            <a:off x="7060367" y="2976388"/>
            <a:ext cx="5131633" cy="3976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10FA3B-6336-7890-9297-521B9124D5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8301" r="37372" b="19456"/>
          <a:stretch>
            <a:fillRect/>
          </a:stretch>
        </p:blipFill>
        <p:spPr>
          <a:xfrm>
            <a:off x="6340958" y="1267068"/>
            <a:ext cx="2158345" cy="1946917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E0A168-3829-860C-E918-F9BC412A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57463" y="6473678"/>
            <a:ext cx="2743200" cy="365125"/>
          </a:xfrm>
        </p:spPr>
        <p:txBody>
          <a:bodyPr/>
          <a:lstStyle/>
          <a:p>
            <a:fld id="{81F26AEC-172F-4B37-BCDC-CD1C39A67D26}" type="slidenum">
              <a:rPr lang="en-IN" sz="2400" b="1" smtClean="0"/>
              <a:t>5</a:t>
            </a:fld>
            <a:endParaRPr lang="en-IN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E7A04-3DA2-CD66-A80B-D4A82DB793B2}"/>
              </a:ext>
            </a:extLst>
          </p:cNvPr>
          <p:cNvSpPr txBox="1"/>
          <p:nvPr/>
        </p:nvSpPr>
        <p:spPr>
          <a:xfrm>
            <a:off x="1690410" y="6377138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Georgia Pro" panose="02040502050405020303" pitchFamily="18" charset="0"/>
              </a:rPr>
              <a:t>S. Pokhrel et al. (2022)</a:t>
            </a:r>
          </a:p>
        </p:txBody>
      </p:sp>
    </p:spTree>
    <p:extLst>
      <p:ext uri="{BB962C8B-B14F-4D97-AF65-F5344CB8AC3E}">
        <p14:creationId xmlns:p14="http://schemas.microsoft.com/office/powerpoint/2010/main" val="258127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E0A5-639D-502E-3069-139CC925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E9D6FD-7803-8121-1637-CD17E91E6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23DB97-556B-DDDB-A492-0A1B84DB0B61}"/>
              </a:ext>
            </a:extLst>
          </p:cNvPr>
          <p:cNvSpPr txBox="1"/>
          <p:nvPr/>
        </p:nvSpPr>
        <p:spPr>
          <a:xfrm>
            <a:off x="232228" y="201759"/>
            <a:ext cx="661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Solver selection: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E690D4-C3DB-BFD5-EBE4-9C624A0AC509}"/>
                  </a:ext>
                </a:extLst>
              </p:cNvPr>
              <p:cNvSpPr txBox="1"/>
              <p:nvPr/>
            </p:nvSpPr>
            <p:spPr>
              <a:xfrm>
                <a:off x="232228" y="1111404"/>
                <a:ext cx="11553373" cy="4865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/>
                  <a:t>The following assumption are invoked: </a:t>
                </a:r>
              </a:p>
              <a:p>
                <a:endParaRPr lang="en-IN" sz="28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flow is steady-state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working fluid is incompressible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Gravitational body forces are neglected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Thermophysical properties (such as µ,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800" dirty="0"/>
                  <a:t>) are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800" dirty="0"/>
                  <a:t>The </a:t>
                </a:r>
                <a:r>
                  <a:rPr lang="en-IN" sz="2800" dirty="0" err="1"/>
                  <a:t>OpenFOAM</a:t>
                </a:r>
                <a:r>
                  <a:rPr lang="en-IN" sz="2800" dirty="0"/>
                  <a:t> solver we used is </a:t>
                </a:r>
                <a:r>
                  <a:rPr lang="en-IN" sz="2800" b="1" dirty="0" err="1"/>
                  <a:t>chtMultiRegionSimpleFoam</a:t>
                </a:r>
                <a:endParaRPr lang="en-IN" sz="28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6E690D4-C3DB-BFD5-EBE4-9C624A0AC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228" y="1111404"/>
                <a:ext cx="11553373" cy="4865306"/>
              </a:xfrm>
              <a:prstGeom prst="rect">
                <a:avLst/>
              </a:prstGeom>
              <a:blipFill>
                <a:blip r:embed="rId3"/>
                <a:stretch>
                  <a:fillRect l="-1055" t="-1253" b="-2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F3C07-31F2-E37B-72D4-25839F24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6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03639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A9AB-4B89-9117-C96C-F4FA6BD7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ADC4EE-562A-D812-1855-1EAEB40785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23A390-D2CF-85DD-B969-D952BE560A5A}"/>
              </a:ext>
            </a:extLst>
          </p:cNvPr>
          <p:cNvSpPr txBox="1"/>
          <p:nvPr/>
        </p:nvSpPr>
        <p:spPr>
          <a:xfrm>
            <a:off x="290286" y="201759"/>
            <a:ext cx="6618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Governing Equations: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AED040-F38D-011B-40FC-82FDDE921B65}"/>
                  </a:ext>
                </a:extLst>
              </p:cNvPr>
              <p:cNvSpPr txBox="1"/>
              <p:nvPr/>
            </p:nvSpPr>
            <p:spPr>
              <a:xfrm>
                <a:off x="290286" y="2053650"/>
                <a:ext cx="11177189" cy="3449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/>
                  <a:t>Steady state Incompressible Continuity Equation: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 dirty="0"/>
              </a:p>
              <a:p>
                <a:pPr marL="342900" indent="-342900" algn="ctr">
                  <a:buFont typeface="Wingdings" panose="05000000000000000000" pitchFamily="2" charset="2"/>
                  <a:buChar char="§"/>
                </a:pPr>
                <a:endParaRPr lang="en-IN" sz="2400" dirty="0"/>
              </a:p>
              <a:p>
                <a:pPr algn="ctr"/>
                <a:endParaRPr lang="en-IN" sz="2400" dirty="0"/>
              </a:p>
              <a:p>
                <a:pPr algn="ctr"/>
                <a:r>
                  <a:rPr lang="en-IN" sz="2800" dirty="0"/>
                  <a:t>Steady state Momentum Equation: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n-IN" sz="280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800" i="1" smtClean="0">
                            <a:latin typeface="Cambria Math" panose="02040503050406030204" pitchFamily="18" charset="0"/>
                          </a:rPr>
                          <m:t>∇</m:t>
                        </m:r>
                        <m:acc>
                          <m:accPr>
                            <m:chr m:val="⃗"/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IN" sz="280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en-IN" sz="2800" i="1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8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i="1" smtClean="0">
                        <a:latin typeface="Cambria Math" panose="02040503050406030204" pitchFamily="18" charset="0"/>
                      </a:rPr>
                      <m:t>+ µ</m:t>
                    </m:r>
                  </m:oMath>
                </a14:m>
                <a:r>
                  <a:rPr lang="en-IN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sz="2800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n-IN" sz="2800" b="0" dirty="0"/>
              </a:p>
              <a:p>
                <a:pPr algn="ctr"/>
                <a:endParaRPr lang="en-IN" sz="2800" b="0" dirty="0">
                  <a:ea typeface="Cambria Math" panose="02040503050406030204" pitchFamily="18" charset="0"/>
                </a:endParaRPr>
              </a:p>
              <a:p>
                <a:pPr algn="ctr"/>
                <a:endParaRPr lang="en-IN" sz="2800" b="0" dirty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IN" sz="2800" dirty="0">
                    <a:ea typeface="Cambria Math" panose="02040503050406030204" pitchFamily="18" charset="0"/>
                  </a:rPr>
                  <a:t>Steady state Energy Equation</a:t>
                </a:r>
                <a:r>
                  <a:rPr lang="en-IN" sz="2800" b="0" dirty="0">
                    <a:ea typeface="Cambria Math" panose="02040503050406030204" pitchFamily="18" charset="0"/>
                  </a:rPr>
                  <a:t>:  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IN" sz="2800" i="1" baseline="30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IN" sz="2800" dirty="0"/>
              </a:p>
              <a:p>
                <a:pPr algn="ctr"/>
                <a:endParaRPr lang="en-IN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AED040-F38D-011B-40FC-82FDDE921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86" y="2053650"/>
                <a:ext cx="11177189" cy="3449534"/>
              </a:xfrm>
              <a:prstGeom prst="rect">
                <a:avLst/>
              </a:prstGeom>
              <a:blipFill>
                <a:blip r:embed="rId4"/>
                <a:stretch>
                  <a:fillRect t="-1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8D1DF-A837-F223-6A2B-E902D39A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7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21819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A0DC2-FEB0-1022-1961-8527F41C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771D31-C50E-9C03-72EE-78FA30B6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D7A879-3567-7522-2EB8-16E90B2567B6}"/>
              </a:ext>
            </a:extLst>
          </p:cNvPr>
          <p:cNvSpPr txBox="1"/>
          <p:nvPr/>
        </p:nvSpPr>
        <p:spPr>
          <a:xfrm>
            <a:off x="232228" y="201759"/>
            <a:ext cx="7232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Meshing and Grid generation: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675218-ADE1-6B08-E03F-BE6DDCDF4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115473"/>
              </p:ext>
            </p:extLst>
          </p:nvPr>
        </p:nvGraphicFramePr>
        <p:xfrm>
          <a:off x="59137" y="1478950"/>
          <a:ext cx="7886242" cy="432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121">
                  <a:extLst>
                    <a:ext uri="{9D8B030D-6E8A-4147-A177-3AD203B41FA5}">
                      <a16:colId xmlns:a16="http://schemas.microsoft.com/office/drawing/2014/main" val="145366908"/>
                    </a:ext>
                  </a:extLst>
                </a:gridCol>
                <a:gridCol w="3943121">
                  <a:extLst>
                    <a:ext uri="{9D8B030D-6E8A-4147-A177-3AD203B41FA5}">
                      <a16:colId xmlns:a16="http://schemas.microsoft.com/office/drawing/2014/main" val="4189668358"/>
                    </a:ext>
                  </a:extLst>
                </a:gridCol>
              </a:tblGrid>
              <a:tr h="57820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Discription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76260"/>
                  </a:ext>
                </a:extLst>
              </a:tr>
              <a:tr h="57820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err="1"/>
                        <a:t>blockMesh</a:t>
                      </a:r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705019"/>
                  </a:ext>
                </a:extLst>
              </a:tr>
              <a:tr h="57820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Cell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Structured hexahedral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254013"/>
                  </a:ext>
                </a:extLst>
              </a:tr>
              <a:tr h="57820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Total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1.92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131346"/>
                  </a:ext>
                </a:extLst>
              </a:tr>
              <a:tr h="578204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Radial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Resolution 10 per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192507"/>
                  </a:ext>
                </a:extLst>
              </a:tr>
              <a:tr h="8530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Circumferential cell</a:t>
                      </a:r>
                    </a:p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Resolution 10 per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085698"/>
                  </a:ext>
                </a:extLst>
              </a:tr>
              <a:tr h="5782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Axial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Resolution 1200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582110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20892C3-55B1-0BDE-B83C-05593769F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8</a:t>
            </a:fld>
            <a:endParaRPr lang="en-IN" sz="2400" b="1" dirty="0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C6B51A9-A9E8-758A-32D8-E1542494E4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6"/>
          <a:stretch>
            <a:fillRect/>
          </a:stretch>
        </p:blipFill>
        <p:spPr bwMode="auto">
          <a:xfrm>
            <a:off x="7945379" y="1478950"/>
            <a:ext cx="4246621" cy="2839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FB79EF-B1C6-A2FD-F5BC-32D5DC4C94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301" r="37372" b="19456"/>
          <a:stretch>
            <a:fillRect/>
          </a:stretch>
        </p:blipFill>
        <p:spPr>
          <a:xfrm>
            <a:off x="9240426" y="4010205"/>
            <a:ext cx="2158345" cy="194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9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9303-027F-0CFB-25B2-8652283C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0E2756-C0E8-0C41-215A-92FC2150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819214" y="0"/>
            <a:ext cx="3372786" cy="953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3164FE-A5F7-858A-8113-7F525C7E4D0F}"/>
              </a:ext>
            </a:extLst>
          </p:cNvPr>
          <p:cNvSpPr txBox="1"/>
          <p:nvPr/>
        </p:nvSpPr>
        <p:spPr>
          <a:xfrm>
            <a:off x="-1" y="20194"/>
            <a:ext cx="9233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Boundary conditions: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7B901E-12CC-0003-3EA8-3E7CF1C59AE9}"/>
                  </a:ext>
                </a:extLst>
              </p:cNvPr>
              <p:cNvSpPr txBox="1"/>
              <p:nvPr/>
            </p:nvSpPr>
            <p:spPr>
              <a:xfrm>
                <a:off x="184877" y="1072229"/>
                <a:ext cx="8634337" cy="5107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/>
                  <a:t>Temperature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Working fluid Inlet: Dirichlet condition:   </a:t>
                </a:r>
                <a:r>
                  <a:rPr lang="en-IN" sz="2400" dirty="0" err="1"/>
                  <a:t>T</a:t>
                </a:r>
                <a:r>
                  <a:rPr lang="en-IN" sz="2400" baseline="-25000" dirty="0" err="1"/>
                  <a:t>inlet</a:t>
                </a:r>
                <a:r>
                  <a:rPr lang="en-IN" sz="2400" dirty="0"/>
                  <a:t> = 343 K</a:t>
                </a:r>
              </a:p>
              <a:p>
                <a:endParaRPr lang="en-IN" sz="2400" baseline="-25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Conductor pipe:  </a:t>
                </a:r>
                <a:r>
                  <a:rPr lang="en-IN" sz="2400" dirty="0" err="1"/>
                  <a:t>T</a:t>
                </a:r>
                <a:r>
                  <a:rPr lang="en-IN" sz="2400" baseline="-25000" dirty="0" err="1"/>
                  <a:t>wall</a:t>
                </a:r>
                <a:r>
                  <a:rPr lang="en-IN" sz="2400" dirty="0"/>
                  <a:t>(z) = 343 + 0.38z  (K)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Bottom face at z= 50m:  </a:t>
                </a:r>
                <a:r>
                  <a:rPr lang="en-IN" sz="2400" dirty="0" err="1"/>
                  <a:t>T</a:t>
                </a:r>
                <a:r>
                  <a:rPr lang="en-IN" sz="2400" baseline="-25000" dirty="0" err="1"/>
                  <a:t>bottom</a:t>
                </a:r>
                <a:r>
                  <a:rPr lang="en-IN" sz="2400" baseline="-25000" dirty="0"/>
                  <a:t> </a:t>
                </a:r>
                <a:r>
                  <a:rPr lang="en-IN" sz="2400" dirty="0"/>
                  <a:t>= 362 K</a:t>
                </a:r>
              </a:p>
              <a:p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Working fluid Outlet: </a:t>
                </a:r>
                <a:r>
                  <a:rPr lang="en-IN" sz="2400" dirty="0" err="1"/>
                  <a:t>inletOutlet</a:t>
                </a:r>
                <a:r>
                  <a:rPr lang="en-IN" sz="2400" dirty="0"/>
                  <a:t> condition</a:t>
                </a:r>
              </a:p>
              <a:p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Fluid-solid interface:  compressible::turbulentTemperatureRadCoupledMixed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𝑠𝑜𝑙𝑖𝑑</m:t>
                        </m:r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𝑓𝑙𝑢𝑖𝑑</m:t>
                        </m:r>
                      </m:sub>
                    </m:sSub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IN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f>
                              <m:f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𝑑𝑇</m:t>
                                </m:r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𝑑𝑟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𝑠𝑜𝑙𝑖𝑑</m:t>
                        </m:r>
                      </m:sub>
                    </m:sSub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f>
                              <m:f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𝑑𝑇</m:t>
                                </m:r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𝑑𝑟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𝑓𝑙𝑢𝑖𝑑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7B901E-12CC-0003-3EA8-3E7CF1C59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77" y="1072229"/>
                <a:ext cx="8634337" cy="5107232"/>
              </a:xfrm>
              <a:prstGeom prst="rect">
                <a:avLst/>
              </a:prstGeom>
              <a:blipFill>
                <a:blip r:embed="rId3"/>
                <a:stretch>
                  <a:fillRect l="-1411" t="-1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702880-47B1-2E21-993B-8DAA26B0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9</a:t>
            </a:fld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B94AD6-A7FE-B62B-D63C-C47ABBF9E9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105" t="-1" r="13923" b="-4831"/>
          <a:stretch>
            <a:fillRect/>
          </a:stretch>
        </p:blipFill>
        <p:spPr>
          <a:xfrm>
            <a:off x="7490562" y="1347067"/>
            <a:ext cx="4701438" cy="364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81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89A84-3513-DF29-48C5-0E575BC58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F3309-E562-1652-10AF-89089F8269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479280" y="0"/>
            <a:ext cx="3712719" cy="1049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1DE9A9-4210-DF93-AC27-3EC44ECE46B0}"/>
              </a:ext>
            </a:extLst>
          </p:cNvPr>
          <p:cNvSpPr txBox="1"/>
          <p:nvPr/>
        </p:nvSpPr>
        <p:spPr>
          <a:xfrm>
            <a:off x="0" y="20194"/>
            <a:ext cx="1004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Boundary conditions: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FFD3F-1C4C-8B56-BC44-458BBD509A5E}"/>
              </a:ext>
            </a:extLst>
          </p:cNvPr>
          <p:cNvSpPr txBox="1"/>
          <p:nvPr/>
        </p:nvSpPr>
        <p:spPr>
          <a:xfrm>
            <a:off x="109926" y="918355"/>
            <a:ext cx="1159739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Velocity</a:t>
            </a:r>
          </a:p>
          <a:p>
            <a:endParaRPr lang="en-IN" sz="2400" baseline="-25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Inlet (annulus top face) : Dirichlet condition:   </a:t>
            </a:r>
            <a:r>
              <a:rPr lang="en-IN" sz="2400" dirty="0" err="1"/>
              <a:t>U</a:t>
            </a:r>
            <a:r>
              <a:rPr lang="en-IN" sz="2400" baseline="-25000" dirty="0" err="1"/>
              <a:t>inlet</a:t>
            </a:r>
            <a:r>
              <a:rPr lang="en-IN" sz="2400" dirty="0"/>
              <a:t> = (0,0, V) m/s   where,  V= m/(</a:t>
            </a:r>
            <a:r>
              <a:rPr lang="el-GR" sz="2400" dirty="0"/>
              <a:t>ρ</a:t>
            </a:r>
            <a:r>
              <a:rPr lang="en-IN" sz="2400" dirty="0"/>
              <a:t>.A)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Outlet (inner pipe top face): </a:t>
            </a:r>
            <a:r>
              <a:rPr lang="en-IN" sz="2400" dirty="0" err="1"/>
              <a:t>inletOutlet</a:t>
            </a:r>
            <a:r>
              <a:rPr lang="en-IN" sz="2400" dirty="0"/>
              <a:t> condition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All solid walls and fluid-solid interfaces:  no-slip condition: </a:t>
            </a:r>
            <a:r>
              <a:rPr lang="en-IN" sz="2400" dirty="0" err="1"/>
              <a:t>U</a:t>
            </a:r>
            <a:r>
              <a:rPr lang="en-IN" sz="2400" baseline="-25000" dirty="0" err="1"/>
              <a:t>wall</a:t>
            </a:r>
            <a:r>
              <a:rPr lang="en-IN" sz="2400" dirty="0"/>
              <a:t> = (0,0,0) m/s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F463B-B3AF-9F43-B98A-889DC22A54B6}"/>
              </a:ext>
            </a:extLst>
          </p:cNvPr>
          <p:cNvSpPr txBox="1"/>
          <p:nvPr/>
        </p:nvSpPr>
        <p:spPr>
          <a:xfrm>
            <a:off x="254833" y="50816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8F485-CB45-4CC5-49D3-331A348FD74D}"/>
              </a:ext>
            </a:extLst>
          </p:cNvPr>
          <p:cNvSpPr txBox="1"/>
          <p:nvPr/>
        </p:nvSpPr>
        <p:spPr>
          <a:xfrm>
            <a:off x="109926" y="3942893"/>
            <a:ext cx="1159739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Pressure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The SIMPLE – Semi-implicit method for pressure linked equation</a:t>
            </a:r>
          </a:p>
          <a:p>
            <a:endParaRPr lang="en-IN" sz="2400" baseline="-25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27A3E-757B-BF24-FFD2-4540D60A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04158" y="6242800"/>
            <a:ext cx="2743200" cy="365125"/>
          </a:xfrm>
        </p:spPr>
        <p:txBody>
          <a:bodyPr/>
          <a:lstStyle/>
          <a:p>
            <a:fld id="{81F26AEC-172F-4B37-BCDC-CD1C39A67D26}" type="slidenum">
              <a:rPr lang="en-IN" sz="2400" b="1" smtClean="0"/>
              <a:t>10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6847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27D42-AA52-86BD-D64C-B84175B2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6FF879B-F559-56A7-3543-1C2BF1C4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C99FDF-179E-602B-A153-0319D2195604}"/>
              </a:ext>
            </a:extLst>
          </p:cNvPr>
          <p:cNvSpPr txBox="1"/>
          <p:nvPr/>
        </p:nvSpPr>
        <p:spPr>
          <a:xfrm>
            <a:off x="232229" y="201759"/>
            <a:ext cx="48794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Material properties: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D90F43-40FC-5854-BC58-A2481C57CA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568254"/>
                  </p:ext>
                </p:extLst>
              </p:nvPr>
            </p:nvGraphicFramePr>
            <p:xfrm>
              <a:off x="464456" y="912367"/>
              <a:ext cx="10913080" cy="54335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8270">
                      <a:extLst>
                        <a:ext uri="{9D8B030D-6E8A-4147-A177-3AD203B41FA5}">
                          <a16:colId xmlns:a16="http://schemas.microsoft.com/office/drawing/2014/main" val="306634090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3318181841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761179462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4277764571"/>
                        </a:ext>
                      </a:extLst>
                    </a:gridCol>
                  </a:tblGrid>
                  <a:tr h="1460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Materials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 </a:t>
                          </a:r>
                          <a:r>
                            <a:rPr lang="en-IN" sz="2400" dirty="0"/>
                            <a:t>Density</a:t>
                          </a:r>
                          <a:r>
                            <a:rPr lang="en-IN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4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1" i="1" baseline="0" smtClean="0">
                                          <a:latin typeface="Cambria Math" panose="02040503050406030204" pitchFamily="18" charset="0"/>
                                        </a:rPr>
                                        <m:t>𝒌𝒈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IN" sz="240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IN" sz="2400" b="1" i="1" baseline="0" smtClean="0">
                                              <a:latin typeface="Cambria Math" panose="02040503050406030204" pitchFamily="18" charset="0"/>
                                            </a:rPr>
                                            <m:t>𝒎</m:t>
                                          </m:r>
                                        </m:e>
                                        <m:sup>
                                          <m:r>
                                            <a:rPr lang="en-IN" sz="2400" b="1" i="1" baseline="0" smtClean="0"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I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Specific heat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b="1" i="1" smtClean="0">
                                          <a:latin typeface="Cambria Math" panose="02040503050406030204" pitchFamily="18" charset="0"/>
                                        </a:rPr>
                                        <m:t>𝑱</m:t>
                                      </m:r>
                                    </m:num>
                                    <m:den>
                                      <m:r>
                                        <a:rPr lang="en-IN" sz="2400" b="1" i="1" smtClean="0">
                                          <a:latin typeface="Cambria Math" panose="02040503050406030204" pitchFamily="18" charset="0"/>
                                        </a:rPr>
                                        <m:t>𝒌𝒈</m:t>
                                      </m:r>
                                      <m:r>
                                        <a:rPr lang="en-IN" sz="2400" b="1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400" b="1" i="1" smtClean="0">
                                          <a:latin typeface="Cambria Math" panose="02040503050406030204" pitchFamily="18" charset="0"/>
                                        </a:rPr>
                                        <m:t>𝑲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IN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/>
                            <a:t> </a:t>
                          </a:r>
                          <a:r>
                            <a:rPr lang="en-IN" sz="2400" dirty="0"/>
                            <a:t>Thermal Conductivity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IN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b="1" i="1" smtClean="0">
                                            <a:latin typeface="Cambria Math" panose="02040503050406030204" pitchFamily="18" charset="0"/>
                                          </a:rPr>
                                          <m:t>𝑾</m:t>
                                        </m:r>
                                      </m:num>
                                      <m:den>
                                        <m:r>
                                          <a:rPr lang="en-IN" sz="2400" b="1" i="1" smtClean="0">
                                            <a:latin typeface="Cambria Math" panose="02040503050406030204" pitchFamily="18" charset="0"/>
                                          </a:rPr>
                                          <m:t>𝒎</m:t>
                                        </m:r>
                                        <m:r>
                                          <a:rPr lang="en-IN" sz="2400" b="1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IN" sz="2400" b="1" i="1" smtClean="0">
                                            <a:latin typeface="Cambria Math" panose="02040503050406030204" pitchFamily="18" charset="0"/>
                                          </a:rPr>
                                          <m:t>𝑲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IN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8500692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Water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998.2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4182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1884005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Insulated inner pipe (carbon steel +foam rubber)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5240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310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737209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Conductor pipe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7850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46.1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33419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77D90F43-40FC-5854-BC58-A2481C57CA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8568254"/>
                  </p:ext>
                </p:extLst>
              </p:nvPr>
            </p:nvGraphicFramePr>
            <p:xfrm>
              <a:off x="464456" y="912367"/>
              <a:ext cx="10913080" cy="54335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8270">
                      <a:extLst>
                        <a:ext uri="{9D8B030D-6E8A-4147-A177-3AD203B41FA5}">
                          <a16:colId xmlns:a16="http://schemas.microsoft.com/office/drawing/2014/main" val="306634090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3318181841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761179462"/>
                        </a:ext>
                      </a:extLst>
                    </a:gridCol>
                    <a:gridCol w="2728270">
                      <a:extLst>
                        <a:ext uri="{9D8B030D-6E8A-4147-A177-3AD203B41FA5}">
                          <a16:colId xmlns:a16="http://schemas.microsoft.com/office/drawing/2014/main" val="4277764571"/>
                        </a:ext>
                      </a:extLst>
                    </a:gridCol>
                  </a:tblGrid>
                  <a:tr h="151549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/>
                            <a:t>Materials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3" t="-2811" r="-200670" b="-259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671" t="-2811" r="-101119" b="-259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811" r="-893" b="-259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8500692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Water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998.2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4182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1884005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Insulated inner pipe (carbon steel +foam rubber)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5240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310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737209"/>
                      </a:ext>
                    </a:extLst>
                  </a:tr>
                  <a:tr h="13060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Conductor pipe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7850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1" dirty="0"/>
                            <a:t>46.1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333419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25906-4DC7-B5C6-3CF5-97E57A03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9581" y="6492875"/>
            <a:ext cx="2743200" cy="365125"/>
          </a:xfrm>
        </p:spPr>
        <p:txBody>
          <a:bodyPr/>
          <a:lstStyle/>
          <a:p>
            <a:fld id="{81F26AEC-172F-4B37-BCDC-CD1C39A67D26}" type="slidenum">
              <a:rPr lang="en-IN" sz="2400" b="1" smtClean="0"/>
              <a:t>11</a:t>
            </a:fld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13D81-9311-D3D4-904F-FF670A1550E0}"/>
              </a:ext>
            </a:extLst>
          </p:cNvPr>
          <p:cNvSpPr txBox="1"/>
          <p:nvPr/>
        </p:nvSpPr>
        <p:spPr>
          <a:xfrm>
            <a:off x="1435578" y="6396335"/>
            <a:ext cx="3304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Georgia Pro" panose="02040502050405020303" pitchFamily="18" charset="0"/>
              </a:rPr>
              <a:t>S. Pokhrel et al. (2022)</a:t>
            </a:r>
          </a:p>
        </p:txBody>
      </p:sp>
    </p:spTree>
    <p:extLst>
      <p:ext uri="{BB962C8B-B14F-4D97-AF65-F5344CB8AC3E}">
        <p14:creationId xmlns:p14="http://schemas.microsoft.com/office/powerpoint/2010/main" val="4108927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F3E1-49C1-3C25-AC37-A88E61AE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05030E-2D12-8529-7916-7FE03BDE82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FC0B95-5615-77B9-9E58-336D1430E837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Steady-State Convergence: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36658-E573-B092-8BF3-DE661F61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12</a:t>
            </a:fld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F45388-3490-F2A8-E42C-A36E4030A4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52" r="5602"/>
          <a:stretch>
            <a:fillRect/>
          </a:stretch>
        </p:blipFill>
        <p:spPr>
          <a:xfrm>
            <a:off x="0" y="1394719"/>
            <a:ext cx="6142411" cy="45276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D4275F-3D50-856F-7D3C-399E15C1F8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859" r="4965"/>
          <a:stretch>
            <a:fillRect/>
          </a:stretch>
        </p:blipFill>
        <p:spPr>
          <a:xfrm>
            <a:off x="6010263" y="1581721"/>
            <a:ext cx="6056674" cy="4340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00EE0F6-5AD6-6BC7-875B-9025E04796F3}"/>
              </a:ext>
            </a:extLst>
          </p:cNvPr>
          <p:cNvSpPr txBox="1"/>
          <p:nvPr/>
        </p:nvSpPr>
        <p:spPr>
          <a:xfrm>
            <a:off x="1910629" y="5945806"/>
            <a:ext cx="27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Laminar regime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79EA24-7081-8871-2C72-1F9A8137DBE6}"/>
              </a:ext>
            </a:extLst>
          </p:cNvPr>
          <p:cNvSpPr txBox="1"/>
          <p:nvPr/>
        </p:nvSpPr>
        <p:spPr>
          <a:xfrm>
            <a:off x="7903923" y="5933140"/>
            <a:ext cx="27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Turbulent regime</a:t>
            </a:r>
          </a:p>
        </p:txBody>
      </p:sp>
    </p:spTree>
    <p:extLst>
      <p:ext uri="{BB962C8B-B14F-4D97-AF65-F5344CB8AC3E}">
        <p14:creationId xmlns:p14="http://schemas.microsoft.com/office/powerpoint/2010/main" val="4102105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1A8FE-C460-25F7-DE66-A014FB50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0392B3-21FB-BD78-870A-04F0BC35A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B85BCD-DB42-7924-63A4-E6896B5BD5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4"/>
          <a:stretch>
            <a:fillRect/>
          </a:stretch>
        </p:blipFill>
        <p:spPr>
          <a:xfrm>
            <a:off x="279816" y="29980"/>
            <a:ext cx="6645640" cy="664911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415DA10-0086-65D7-6A5A-E6A4CCDBC4ED}"/>
              </a:ext>
            </a:extLst>
          </p:cNvPr>
          <p:cNvSpPr txBox="1"/>
          <p:nvPr/>
        </p:nvSpPr>
        <p:spPr>
          <a:xfrm>
            <a:off x="6925456" y="2608289"/>
            <a:ext cx="52615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The cross-sectional top view provides the visual representation of thermal development within the system along the depth from the inlet z=0.1 m to the bottom z=50 m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39CC16B2-3C93-8697-F2B3-B6A6283E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13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04667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55BEB-637A-7891-6AF9-B2F7542E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4F3AC6-B44C-A0C4-A266-2E74677408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4A6CE5-20C9-F692-0A20-4FAE674C841F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Temperature Profiles: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DDB27E-71D9-C514-A43C-954878E6E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97" r="6680" b="3365"/>
          <a:stretch>
            <a:fillRect/>
          </a:stretch>
        </p:blipFill>
        <p:spPr>
          <a:xfrm>
            <a:off x="1107891" y="1250118"/>
            <a:ext cx="7773913" cy="554483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63EAE-36A7-CCD4-1CF2-A1A3DBEF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14</a:t>
            </a:fld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097E34-7C13-06A4-581D-C00476250163}"/>
              </a:ext>
            </a:extLst>
          </p:cNvPr>
          <p:cNvSpPr txBox="1"/>
          <p:nvPr/>
        </p:nvSpPr>
        <p:spPr>
          <a:xfrm>
            <a:off x="1050773" y="5201587"/>
            <a:ext cx="1034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Inlet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C9C81F-C22D-17AC-9325-6646FA2A2066}"/>
              </a:ext>
            </a:extLst>
          </p:cNvPr>
          <p:cNvSpPr txBox="1"/>
          <p:nvPr/>
        </p:nvSpPr>
        <p:spPr>
          <a:xfrm>
            <a:off x="8610600" y="2564877"/>
            <a:ext cx="3581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At z= 50m : </a:t>
            </a:r>
            <a:r>
              <a:rPr lang="en-IN" sz="2400" b="1" dirty="0" err="1"/>
              <a:t>T</a:t>
            </a:r>
            <a:r>
              <a:rPr lang="en-IN" sz="2400" b="1" baseline="-25000" dirty="0" err="1"/>
              <a:t>bottom</a:t>
            </a:r>
            <a:r>
              <a:rPr lang="en-IN" sz="2400" b="1" baseline="-25000" dirty="0"/>
              <a:t> </a:t>
            </a:r>
            <a:r>
              <a:rPr lang="en-IN" sz="2400" b="1" dirty="0"/>
              <a:t>= 362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935231-64B0-71CA-3A8A-976B378A75A5}"/>
              </a:ext>
            </a:extLst>
          </p:cNvPr>
          <p:cNvSpPr txBox="1"/>
          <p:nvPr/>
        </p:nvSpPr>
        <p:spPr>
          <a:xfrm>
            <a:off x="3381590" y="2593950"/>
            <a:ext cx="1146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Outlet</a:t>
            </a:r>
          </a:p>
        </p:txBody>
      </p:sp>
    </p:spTree>
    <p:extLst>
      <p:ext uri="{BB962C8B-B14F-4D97-AF65-F5344CB8AC3E}">
        <p14:creationId xmlns:p14="http://schemas.microsoft.com/office/powerpoint/2010/main" val="3192960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144FE-7395-7110-5604-B769DC40E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EDA54A-EDF9-3CD7-F9D8-B4617A089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2689E8-F5A0-C97E-B913-70321195BD93}"/>
              </a:ext>
            </a:extLst>
          </p:cNvPr>
          <p:cNvSpPr txBox="1"/>
          <p:nvPr/>
        </p:nvSpPr>
        <p:spPr>
          <a:xfrm>
            <a:off x="0" y="0"/>
            <a:ext cx="865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Velocity profiles(fully developed region):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52FB6-F003-11CD-A9DA-D0C4793D87FC}"/>
              </a:ext>
            </a:extLst>
          </p:cNvPr>
          <p:cNvSpPr txBox="1"/>
          <p:nvPr/>
        </p:nvSpPr>
        <p:spPr>
          <a:xfrm>
            <a:off x="2778534" y="915155"/>
            <a:ext cx="27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Laminar regime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ED0D4-F1D6-9583-F25C-0B8F970DB3BA}"/>
              </a:ext>
            </a:extLst>
          </p:cNvPr>
          <p:cNvSpPr txBox="1"/>
          <p:nvPr/>
        </p:nvSpPr>
        <p:spPr>
          <a:xfrm>
            <a:off x="8446363" y="915155"/>
            <a:ext cx="278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Turbulent regime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7603C4-AA74-B205-988E-5C865AF110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3" r="7529" b="5296"/>
          <a:stretch>
            <a:fillRect/>
          </a:stretch>
        </p:blipFill>
        <p:spPr>
          <a:xfrm>
            <a:off x="0" y="1873770"/>
            <a:ext cx="6220918" cy="43621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0F7054-29A5-1B8B-D52E-CAE13A2B8F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83" r="5307" b="6999"/>
          <a:stretch>
            <a:fillRect/>
          </a:stretch>
        </p:blipFill>
        <p:spPr>
          <a:xfrm>
            <a:off x="6096000" y="1873770"/>
            <a:ext cx="6096000" cy="41347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EE56E1-D7B0-A637-7A1B-F8CE20A1F35F}"/>
              </a:ext>
            </a:extLst>
          </p:cNvPr>
          <p:cNvSpPr txBox="1"/>
          <p:nvPr/>
        </p:nvSpPr>
        <p:spPr>
          <a:xfrm>
            <a:off x="2511447" y="6265888"/>
            <a:ext cx="181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z = 25m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FA79F-3D0B-EB18-2262-43EDD834832F}"/>
              </a:ext>
            </a:extLst>
          </p:cNvPr>
          <p:cNvSpPr txBox="1"/>
          <p:nvPr/>
        </p:nvSpPr>
        <p:spPr>
          <a:xfrm>
            <a:off x="8773648" y="6265888"/>
            <a:ext cx="181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 z = 25m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0416089-B00D-B2C6-E084-E8A7B171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15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60570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B49D-1462-5460-CA8C-559998C37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327B18-42F2-9755-0050-B565121F00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5BE584-0685-3E8D-2D74-ACD52CDDBD1C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Bottom hole region: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95B32F-374B-75AD-C237-296A24652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14" y="914072"/>
            <a:ext cx="10208302" cy="5742169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A27D8B8-CC56-14C6-83DE-68BA79C3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227" y="6473678"/>
            <a:ext cx="2743200" cy="365125"/>
          </a:xfrm>
        </p:spPr>
        <p:txBody>
          <a:bodyPr/>
          <a:lstStyle/>
          <a:p>
            <a:fld id="{81F26AEC-172F-4B37-BCDC-CD1C39A67D26}" type="slidenum">
              <a:rPr lang="en-IN" sz="2400" b="1" smtClean="0"/>
              <a:t>16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277844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694C3-6F06-87D0-301B-8BC65632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50DAEF-73B9-1897-45CD-3D5622C8FB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DC8BE2-E7D0-C193-F797-ADECE00B4E74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 Validation for Laminar flow: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C08325-9204-3997-183E-84A2F52E6EC8}"/>
                  </a:ext>
                </a:extLst>
              </p:cNvPr>
              <p:cNvSpPr txBox="1"/>
              <p:nvPr/>
            </p:nvSpPr>
            <p:spPr>
              <a:xfrm>
                <a:off x="1006246" y="1882381"/>
                <a:ext cx="6178325" cy="4552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𝑟𝑑𝑟</m:t>
                        </m:r>
                      </m:e>
                    </m:nary>
                  </m:oMath>
                </a14:m>
                <a:br>
                  <a:rPr lang="en-IN" sz="2000" dirty="0">
                    <a:solidFill>
                      <a:srgbClr val="000000"/>
                    </a:solidFill>
                  </a:rPr>
                </a:br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𝑎𝑣𝑔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𝑟𝑑𝑟</m:t>
                          </m:r>
                        </m:e>
                      </m:nary>
                    </m:oMath>
                  </m:oMathPara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𝑇𝑚</m:t>
                        </m:r>
                      </m:den>
                    </m:f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=19.3621</m:t>
                    </m:r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𝑞𝑠</m:t>
                      </m:r>
                      <m:r>
                        <a:rPr lang="en-I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𝑇𝑜</m:t>
                          </m:r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𝑇𝑖</m:t>
                          </m:r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𝑟𝑜</m:t>
                          </m:r>
                          <m:func>
                            <m:funcPr>
                              <m:ctrlPr>
                                <a:rPr lang="en-IN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𝑟𝑜</m:t>
                                      </m:r>
                                    </m:num>
                                    <m:den>
                                      <m:r>
                                        <a:rPr lang="en-I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𝑟𝑖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𝑁𝑢</m:t>
                    </m:r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𝑓𝑙𝑢𝑖𝑑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 =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6.7044</m:t>
                    </m:r>
                  </m:oMath>
                </a14:m>
                <a:endParaRPr lang="en-IN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BC08325-9204-3997-183E-84A2F52E6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246" y="1882381"/>
                <a:ext cx="6178325" cy="45522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D68497F-4027-4512-5394-0035F1A4C634}"/>
              </a:ext>
            </a:extLst>
          </p:cNvPr>
          <p:cNvSpPr txBox="1"/>
          <p:nvPr/>
        </p:nvSpPr>
        <p:spPr>
          <a:xfrm>
            <a:off x="232228" y="1111404"/>
            <a:ext cx="8986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Constant wall temperature condition (Insulated pipe):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E3733-6261-9207-F74C-98FEC8FDABCD}"/>
              </a:ext>
            </a:extLst>
          </p:cNvPr>
          <p:cNvSpPr txBox="1"/>
          <p:nvPr/>
        </p:nvSpPr>
        <p:spPr>
          <a:xfrm>
            <a:off x="360240" y="1790216"/>
            <a:ext cx="328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By simulation: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518B2E-F5FB-72FD-3363-64BF1A55BEB7}"/>
                  </a:ext>
                </a:extLst>
              </p:cNvPr>
              <p:cNvSpPr txBox="1"/>
              <p:nvPr/>
            </p:nvSpPr>
            <p:spPr>
              <a:xfrm>
                <a:off x="6089794" y="1858672"/>
                <a:ext cx="6178325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By theory: </a:t>
                </a:r>
                <a:r>
                  <a:rPr lang="en-IN" sz="2400" dirty="0">
                    <a:latin typeface="Georgia Pro" panose="02040502050405020303" pitchFamily="18" charset="0"/>
                  </a:rPr>
                  <a:t>(Frank P. </a:t>
                </a:r>
                <a:r>
                  <a:rPr lang="en-IN" sz="2400" dirty="0" err="1">
                    <a:latin typeface="Georgia Pro" panose="02040502050405020303" pitchFamily="18" charset="0"/>
                  </a:rPr>
                  <a:t>Incropera</a:t>
                </a:r>
                <a:r>
                  <a:rPr lang="en-IN" sz="2400" dirty="0">
                    <a:latin typeface="Georgia Pro" panose="02040502050405020303" pitchFamily="18" charset="0"/>
                  </a:rPr>
                  <a:t> et al., 2017)</a:t>
                </a:r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𝑁𝑢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=3.66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518B2E-F5FB-72FD-3363-64BF1A55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794" y="1858672"/>
                <a:ext cx="6178325" cy="1138773"/>
              </a:xfrm>
              <a:prstGeom prst="rect">
                <a:avLst/>
              </a:prstGeom>
              <a:blipFill>
                <a:blip r:embed="rId4"/>
                <a:stretch>
                  <a:fillRect l="-1579" t="-4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799EBCA-0DEF-D85A-42BC-95B8C0C22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3781" y="3062678"/>
            <a:ext cx="4490353" cy="359356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AC43350-650D-412D-FB0A-E4410DB3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17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24986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4B43B-C74D-4C87-3AF7-7C222C0D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F18A99-242E-4862-7BDE-4987288A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11FCF6-2199-8DD3-875C-59C11DCE0351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Model Validation for Laminar flow: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13B48-63E2-F422-B413-48F8516C3259}"/>
                  </a:ext>
                </a:extLst>
              </p:cNvPr>
              <p:cNvSpPr txBox="1"/>
              <p:nvPr/>
            </p:nvSpPr>
            <p:spPr>
              <a:xfrm>
                <a:off x="-454226" y="1836383"/>
                <a:ext cx="8919147" cy="4802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𝑅𝑖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𝑅𝑖</m:t>
                        </m:r>
                      </m:sup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𝑟𝑑𝑟</m:t>
                        </m:r>
                      </m:e>
                    </m:nary>
                  </m:oMath>
                </a14:m>
                <a:endParaRPr lang="en-IN" sz="2000" dirty="0"/>
              </a:p>
              <a:p>
                <a:pPr marL="0" indent="0" algn="ctr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𝑎𝑣𝑔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𝑅𝑖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𝑟𝑜</m:t>
                              </m:r>
                            </m:e>
                            <m:sup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𝑅𝑖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𝑟𝑑𝑟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sz="2000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𝑞𝑠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𝐴𝑜</m:t>
                        </m:r>
                      </m:num>
                      <m:den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𝑇𝑠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𝑇𝑚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𝐴𝑖</m:t>
                        </m:r>
                      </m:den>
                    </m:f>
                  </m:oMath>
                </a14:m>
                <a:r>
                  <a:rPr lang="en-IN" sz="2000" dirty="0"/>
                  <a:t>  =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8.63809</m:t>
                    </m:r>
                  </m:oMath>
                </a14:m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IN" sz="2000" dirty="0"/>
              </a:p>
              <a:p>
                <a:pPr marL="0" indent="0" algn="ctr">
                  <a:buNone/>
                </a:pPr>
                <a:endParaRPr lang="en-IN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𝑇𝑜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𝑇𝑖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func>
                            <m:func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num>
                                    <m:den>
                                      <m:r>
                                        <a:rPr lang="en-IN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IN" sz="2000" dirty="0"/>
              </a:p>
              <a:p>
                <a:pPr marL="0" indent="0" algn="ctr">
                  <a:buNone/>
                </a:pPr>
                <a:endParaRPr lang="en-IN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𝑁𝑢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𝑓𝑙𝑢𝑖𝑑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/>
                  <a:t>  = 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3.2956</m:t>
                    </m:r>
                  </m:oMath>
                </a14:m>
                <a:endParaRPr lang="en-IN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613B48-63E2-F422-B413-48F8516C3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4226" y="1836383"/>
                <a:ext cx="8919147" cy="48024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220CE60-C3C8-F3CF-3A5B-E77DC490CB63}"/>
              </a:ext>
            </a:extLst>
          </p:cNvPr>
          <p:cNvSpPr txBox="1"/>
          <p:nvPr/>
        </p:nvSpPr>
        <p:spPr>
          <a:xfrm>
            <a:off x="374754" y="1111404"/>
            <a:ext cx="8799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Constant wall heat flux condition (Conductor pipe):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E3962-1382-50DF-C0ED-52401A4AA7EC}"/>
              </a:ext>
            </a:extLst>
          </p:cNvPr>
          <p:cNvSpPr txBox="1"/>
          <p:nvPr/>
        </p:nvSpPr>
        <p:spPr>
          <a:xfrm>
            <a:off x="264825" y="1836383"/>
            <a:ext cx="3280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By simulation: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ADEF1-2FF4-953D-DE10-107CA7CB87A4}"/>
                  </a:ext>
                </a:extLst>
              </p:cNvPr>
              <p:cNvSpPr txBox="1"/>
              <p:nvPr/>
            </p:nvSpPr>
            <p:spPr>
              <a:xfrm>
                <a:off x="6165595" y="1843966"/>
                <a:ext cx="6036754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By theory: </a:t>
                </a:r>
                <a:r>
                  <a:rPr lang="en-IN" sz="2400" dirty="0">
                    <a:latin typeface="Georgia Pro" panose="02040502050405020303" pitchFamily="18" charset="0"/>
                  </a:rPr>
                  <a:t>(Frank P. </a:t>
                </a:r>
                <a:r>
                  <a:rPr lang="en-IN" sz="2400" dirty="0" err="1">
                    <a:latin typeface="Georgia Pro" panose="02040502050405020303" pitchFamily="18" charset="0"/>
                  </a:rPr>
                  <a:t>Incropera</a:t>
                </a:r>
                <a:r>
                  <a:rPr lang="en-IN" sz="2400" dirty="0">
                    <a:latin typeface="Georgia Pro" panose="02040502050405020303" pitchFamily="18" charset="0"/>
                  </a:rPr>
                  <a:t> et al., 2017)</a:t>
                </a:r>
              </a:p>
              <a:p>
                <a:endParaRPr lang="en-IN" sz="2400" dirty="0"/>
              </a:p>
              <a:p>
                <a:endParaRPr lang="en-I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𝑁𝑢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=4.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4FADEF1-2FF4-953D-DE10-107CA7CB8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95" y="1843966"/>
                <a:ext cx="6036754" cy="1508105"/>
              </a:xfrm>
              <a:prstGeom prst="rect">
                <a:avLst/>
              </a:prstGeom>
              <a:blipFill>
                <a:blip r:embed="rId4"/>
                <a:stretch>
                  <a:fillRect l="-1514" t="-36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D640B-2426-DFD8-274D-BA041C52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18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339945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7CB1-43B0-EB9A-CB73-C308FA4C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2F265F-8545-60C2-45DD-25B3DB8F1C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44064-1122-156E-88D2-86BB353DA5E5}"/>
              </a:ext>
            </a:extLst>
          </p:cNvPr>
          <p:cNvSpPr txBox="1"/>
          <p:nvPr/>
        </p:nvSpPr>
        <p:spPr>
          <a:xfrm>
            <a:off x="232228" y="201759"/>
            <a:ext cx="8592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Turbulent Flow Validation using Dittus-Boelter Correlation: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C86EC2-ECF0-D152-1764-D1AF44281DD7}"/>
                  </a:ext>
                </a:extLst>
              </p:cNvPr>
              <p:cNvSpPr txBox="1"/>
              <p:nvPr/>
            </p:nvSpPr>
            <p:spPr>
              <a:xfrm>
                <a:off x="699662" y="1830526"/>
                <a:ext cx="6118484" cy="4445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limLoc m:val="undOvr"/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𝑟𝑑𝑟</m:t>
                        </m:r>
                      </m:e>
                    </m:nary>
                  </m:oMath>
                </a14:m>
                <a:br>
                  <a:rPr lang="en-IN" sz="2000" dirty="0">
                    <a:solidFill>
                      <a:srgbClr val="000000"/>
                    </a:solidFill>
                  </a:rPr>
                </a:br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b>
                            <m:sSub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𝑎𝑣𝑔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limLoc m:val="undOvr"/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𝑟𝑑𝑟</m:t>
                          </m:r>
                        </m:e>
                      </m:nary>
                    </m:oMath>
                  </m:oMathPara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𝑞𝑠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𝑇𝑚</m:t>
                        </m:r>
                      </m:den>
                    </m:f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262.103</m:t>
                    </m:r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sSup>
                          <m:sSup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𝑞𝑠</m:t>
                      </m:r>
                      <m:r>
                        <a:rPr lang="en-IN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𝑇𝑜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𝑇𝑖</m:t>
                          </m:r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𝑟𝑜</m:t>
                          </m:r>
                          <m:func>
                            <m:funcPr>
                              <m:ctrlPr>
                                <a:rPr lang="en-IN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𝑟𝑜</m:t>
                                      </m:r>
                                    </m:num>
                                    <m:den>
                                      <m:r>
                                        <a:rPr lang="en-IN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𝑟𝑖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IN" sz="2000" dirty="0">
                  <a:solidFill>
                    <a:srgbClr val="000000"/>
                  </a:solidFill>
                </a:endParaRPr>
              </a:p>
              <a:p>
                <a:pPr algn="ctr"/>
                <a:br>
                  <a:rPr lang="en-IN" sz="2000" dirty="0">
                    <a:solidFill>
                      <a:srgbClr val="0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𝑁𝑢</m:t>
                    </m:r>
                    <m:r>
                      <a:rPr lang="en-I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b>
                          <m:sSubPr>
                            <m:ctrlP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𝑓𝑙𝑢𝑖𝑑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solidFill>
                      <a:srgbClr val="000000"/>
                    </a:solidFill>
                  </a:rPr>
                  <a:t>  =</a:t>
                </a:r>
                <a14:m>
                  <m:oMath xmlns:m="http://schemas.openxmlformats.org/officeDocument/2006/math">
                    <m:r>
                      <a:rPr lang="en-IN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90.75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C86EC2-ECF0-D152-1764-D1AF44281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662" y="1830526"/>
                <a:ext cx="6118484" cy="44455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FCEADDA-4F67-8F0C-040A-638AB9F4A14E}"/>
              </a:ext>
            </a:extLst>
          </p:cNvPr>
          <p:cNvSpPr txBox="1"/>
          <p:nvPr/>
        </p:nvSpPr>
        <p:spPr>
          <a:xfrm>
            <a:off x="232228" y="1592700"/>
            <a:ext cx="4497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By simulation: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FC88B-79EC-D968-F7FD-65E9571EBC3F}"/>
              </a:ext>
            </a:extLst>
          </p:cNvPr>
          <p:cNvSpPr txBox="1"/>
          <p:nvPr/>
        </p:nvSpPr>
        <p:spPr>
          <a:xfrm>
            <a:off x="6073516" y="1650736"/>
            <a:ext cx="6118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By theory:  </a:t>
            </a:r>
            <a:r>
              <a:rPr lang="en-IN" sz="2400" dirty="0">
                <a:latin typeface="Georgia Pro" panose="02040502050405020303" pitchFamily="18" charset="0"/>
              </a:rPr>
              <a:t>(Frank P. </a:t>
            </a:r>
            <a:r>
              <a:rPr lang="en-IN" sz="2400" dirty="0" err="1">
                <a:latin typeface="Georgia Pro" panose="02040502050405020303" pitchFamily="18" charset="0"/>
              </a:rPr>
              <a:t>Incropera</a:t>
            </a:r>
            <a:r>
              <a:rPr lang="en-IN" sz="2400" dirty="0">
                <a:latin typeface="Georgia Pro" panose="02040502050405020303" pitchFamily="18" charset="0"/>
              </a:rPr>
              <a:t> et al., 2017)</a:t>
            </a:r>
          </a:p>
          <a:p>
            <a:r>
              <a:rPr lang="en-IN" sz="2400" dirty="0"/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50CAB0-9128-9B73-2515-648675E4F245}"/>
                  </a:ext>
                </a:extLst>
              </p:cNvPr>
              <p:cNvSpPr txBox="1"/>
              <p:nvPr/>
            </p:nvSpPr>
            <p:spPr>
              <a:xfrm>
                <a:off x="6818146" y="2398472"/>
                <a:ext cx="514162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𝑁𝑢</m:t>
                    </m:r>
                  </m:oMath>
                </a14:m>
                <a:r>
                  <a:rPr lang="en-IN" sz="2000" dirty="0"/>
                  <a:t>: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0.023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 . 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0.8</m:t>
                        </m:r>
                      </m:sup>
                    </m:sSup>
                  </m:oMath>
                </a14:m>
                <a:r>
                  <a:rPr lang="en-IN" sz="2000" dirty="0"/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IN" sz="2000" b="0" i="1" dirty="0" smtClean="0">
                            <a:latin typeface="Cambria Math" panose="02040503050406030204" pitchFamily="18" charset="0"/>
                          </a:rPr>
                          <m:t>0.333  </m:t>
                        </m:r>
                      </m:sup>
                    </m:sSup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50CAB0-9128-9B73-2515-648675E4F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146" y="2398472"/>
                <a:ext cx="5141626" cy="307777"/>
              </a:xfrm>
              <a:prstGeom prst="rect">
                <a:avLst/>
              </a:prstGeom>
              <a:blipFill>
                <a:blip r:embed="rId4"/>
                <a:stretch>
                  <a:fillRect l="-1659" t="-23529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D602B-6795-454E-6D86-DA4288F024C9}"/>
                  </a:ext>
                </a:extLst>
              </p:cNvPr>
              <p:cNvSpPr txBox="1"/>
              <p:nvPr/>
            </p:nvSpPr>
            <p:spPr>
              <a:xfrm>
                <a:off x="6818146" y="3088214"/>
                <a:ext cx="13689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𝑁𝑢</m:t>
                      </m:r>
                      <m:r>
                        <a:rPr lang="en-I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83.57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2D602B-6795-454E-6D86-DA4288F02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146" y="3088214"/>
                <a:ext cx="13689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C7B610-D4D4-30D2-8770-B19DD40B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19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38375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3861-5FE5-52ED-5BFB-A3B02C77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316191C-68CF-1953-EB17-45FFD86A1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E73224-9C3F-FE15-82C0-5D15073A6612}"/>
              </a:ext>
            </a:extLst>
          </p:cNvPr>
          <p:cNvSpPr txBox="1"/>
          <p:nvPr/>
        </p:nvSpPr>
        <p:spPr>
          <a:xfrm>
            <a:off x="232228" y="201759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Parametric study: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CF2FE6-6F38-DB1D-CDFC-2409676D9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84879"/>
              </p:ext>
            </p:extLst>
          </p:nvPr>
        </p:nvGraphicFramePr>
        <p:xfrm>
          <a:off x="119922" y="1111404"/>
          <a:ext cx="11962150" cy="5386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30">
                  <a:extLst>
                    <a:ext uri="{9D8B030D-6E8A-4147-A177-3AD203B41FA5}">
                      <a16:colId xmlns:a16="http://schemas.microsoft.com/office/drawing/2014/main" val="1971707523"/>
                    </a:ext>
                  </a:extLst>
                </a:gridCol>
                <a:gridCol w="2392430">
                  <a:extLst>
                    <a:ext uri="{9D8B030D-6E8A-4147-A177-3AD203B41FA5}">
                      <a16:colId xmlns:a16="http://schemas.microsoft.com/office/drawing/2014/main" val="3000477687"/>
                    </a:ext>
                  </a:extLst>
                </a:gridCol>
                <a:gridCol w="2392430">
                  <a:extLst>
                    <a:ext uri="{9D8B030D-6E8A-4147-A177-3AD203B41FA5}">
                      <a16:colId xmlns:a16="http://schemas.microsoft.com/office/drawing/2014/main" val="3820435378"/>
                    </a:ext>
                  </a:extLst>
                </a:gridCol>
                <a:gridCol w="2392430">
                  <a:extLst>
                    <a:ext uri="{9D8B030D-6E8A-4147-A177-3AD203B41FA5}">
                      <a16:colId xmlns:a16="http://schemas.microsoft.com/office/drawing/2014/main" val="3196589236"/>
                    </a:ext>
                  </a:extLst>
                </a:gridCol>
                <a:gridCol w="2392430">
                  <a:extLst>
                    <a:ext uri="{9D8B030D-6E8A-4147-A177-3AD203B41FA5}">
                      <a16:colId xmlns:a16="http://schemas.microsoft.com/office/drawing/2014/main" val="283479101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Working Fluids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Thermal Conductivity(k)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Specific Heat(C</a:t>
                      </a:r>
                      <a:r>
                        <a:rPr lang="en-IN" sz="2400" baseline="-25000" dirty="0"/>
                        <a:t>p</a:t>
                      </a:r>
                      <a:r>
                        <a:rPr lang="en-IN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Viscosity(µ)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Density(</a:t>
                      </a:r>
                      <a:r>
                        <a:rPr lang="el-GR" sz="2400" dirty="0"/>
                        <a:t>ρ</a:t>
                      </a:r>
                      <a:r>
                        <a:rPr lang="en-IN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268321"/>
                  </a:ext>
                </a:extLst>
              </a:tr>
              <a:tr h="97093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Water</a:t>
                      </a:r>
                    </a:p>
                    <a:p>
                      <a:pPr algn="ctr"/>
                      <a:endParaRPr lang="en-IN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998.2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708997"/>
                  </a:ext>
                </a:extLst>
              </a:tr>
              <a:tr h="97093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 err="1"/>
                        <a:t>CuO</a:t>
                      </a:r>
                      <a:r>
                        <a:rPr lang="en-IN" sz="2400" b="1" dirty="0"/>
                        <a:t>/water</a:t>
                      </a:r>
                    </a:p>
                    <a:p>
                      <a:pPr algn="ctr"/>
                      <a:r>
                        <a:rPr lang="en-IN" sz="2000" b="1" dirty="0">
                          <a:latin typeface="Georgia Pro" panose="02040502050405020303" pitchFamily="18" charset="0"/>
                        </a:rPr>
                        <a:t>(</a:t>
                      </a:r>
                      <a:r>
                        <a:rPr lang="en-IN" sz="2000" b="1" dirty="0" err="1">
                          <a:latin typeface="Georgia Pro" panose="02040502050405020303" pitchFamily="18" charset="0"/>
                        </a:rPr>
                        <a:t>R.Kavitha</a:t>
                      </a:r>
                      <a:r>
                        <a:rPr lang="en-IN" sz="2000" b="1" dirty="0">
                          <a:latin typeface="Georgia Pro" panose="02040502050405020303" pitchFamily="18" charset="0"/>
                        </a:rPr>
                        <a:t> et al. 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High(enhanced)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0.00084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172007"/>
                  </a:ext>
                </a:extLst>
              </a:tr>
              <a:tr h="97093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Mineral Oil</a:t>
                      </a:r>
                    </a:p>
                    <a:p>
                      <a:pPr algn="ctr"/>
                      <a:r>
                        <a:rPr lang="en-IN" sz="2400" b="1" dirty="0">
                          <a:latin typeface="Georgia Pro" panose="02040502050405020303" pitchFamily="18" charset="0"/>
                        </a:rPr>
                        <a:t>(PubChem)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0.00989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576007"/>
                  </a:ext>
                </a:extLst>
              </a:tr>
              <a:tr h="970939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PG</a:t>
                      </a:r>
                    </a:p>
                    <a:p>
                      <a:pPr algn="ctr"/>
                      <a:r>
                        <a:rPr lang="en-IN" sz="2400" b="1" dirty="0">
                          <a:latin typeface="Georgia Pro" panose="02040502050405020303" pitchFamily="18" charset="0"/>
                        </a:rPr>
                        <a:t>(</a:t>
                      </a:r>
                      <a:r>
                        <a:rPr lang="en-IN" sz="2400" b="1" dirty="0" err="1">
                          <a:latin typeface="Georgia Pro" panose="02040502050405020303" pitchFamily="18" charset="0"/>
                        </a:rPr>
                        <a:t>DowCAL</a:t>
                      </a:r>
                      <a:r>
                        <a:rPr lang="en-IN" sz="2400" b="1" dirty="0">
                          <a:latin typeface="Georgia Pro" panose="02040502050405020303" pitchFamily="18" charset="0"/>
                        </a:rPr>
                        <a:t> Geo-200)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3990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0.00174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84979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4C012-6B55-DA68-8F72-3AD8A2AA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20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87828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8F66-65ED-D950-9C1E-DED2DAB9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3EE18EF-DE84-BCCF-5789-7904A878FC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20C109-60D0-43FC-C9C6-15E48B998774}"/>
              </a:ext>
            </a:extLst>
          </p:cNvPr>
          <p:cNvSpPr txBox="1"/>
          <p:nvPr/>
        </p:nvSpPr>
        <p:spPr>
          <a:xfrm>
            <a:off x="0" y="162164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Effect of Mass Flow Rate on </a:t>
            </a:r>
            <a:r>
              <a:rPr lang="el-G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Δ</a:t>
            </a:r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ADA6F7-1A1B-744D-6E05-4ED9FD088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913697"/>
            <a:ext cx="6976673" cy="57575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8CC5-7A4C-4DC8-DF33-6F9E0EAE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21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01271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13CAE-C793-BFE4-88CC-1303890C5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427D38-D1B5-8374-0DA6-9333B61E4C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03A67-2E37-E611-4CCC-79744F1D84F3}"/>
              </a:ext>
            </a:extLst>
          </p:cNvPr>
          <p:cNvSpPr txBox="1"/>
          <p:nvPr/>
        </p:nvSpPr>
        <p:spPr>
          <a:xfrm>
            <a:off x="277199" y="186768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Effect of Heat Transfer rate on </a:t>
            </a:r>
            <a:r>
              <a:rPr lang="el-GR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Δ</a:t>
            </a:r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P: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F8BB14-4D9D-5D73-3FCC-B97476B8C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092" y="1081422"/>
            <a:ext cx="6848475" cy="55611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323C3-A314-425C-E626-268022CE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22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68173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32EA-7587-645F-BE4A-0037F77F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532B7-B27D-3A58-87F6-D5C66C08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D22104-79E1-19A3-D167-383CF3387226}"/>
              </a:ext>
            </a:extLst>
          </p:cNvPr>
          <p:cNvSpPr txBox="1"/>
          <p:nvPr/>
        </p:nvSpPr>
        <p:spPr>
          <a:xfrm>
            <a:off x="217238" y="0"/>
            <a:ext cx="85924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Effect of Net Energy on Mass Flow Rate: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061E55-75FC-56C4-9E96-5FF7C0D51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08" y="1298172"/>
            <a:ext cx="6883187" cy="555982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9D59D-3971-89BF-7D58-CB6A07D6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23</a:t>
            </a:fld>
            <a:endParaRPr lang="en-IN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F289E6-D356-9480-3EB5-FC722658AECC}"/>
                  </a:ext>
                </a:extLst>
              </p:cNvPr>
              <p:cNvSpPr txBox="1"/>
              <p:nvPr/>
            </p:nvSpPr>
            <p:spPr>
              <a:xfrm>
                <a:off x="7754912" y="2545743"/>
                <a:ext cx="4437088" cy="3064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𝑄𝑛𝑒𝑡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𝑄𝑡h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𝑊𝑝</m:t>
                      </m:r>
                    </m:oMath>
                  </m:oMathPara>
                </a14:m>
                <a:endParaRPr lang="en-IN" sz="2400" b="0" dirty="0"/>
              </a:p>
              <a:p>
                <a:endParaRPr lang="en-I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𝑄𝑡h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𝑡h𝑒𝑟𝑚𝑎𝑙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𝑔𝑎𝑖𝑛</m:t>
                      </m:r>
                    </m:oMath>
                  </m:oMathPara>
                </a14:m>
                <a:endParaRPr lang="en-IN" sz="2400" b="0" dirty="0"/>
              </a:p>
              <a:p>
                <a:endParaRPr lang="en-IN" sz="2400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𝑊𝑝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𝐻𝑦𝑑𝑟𝑜𝑙𝑜𝑔𝑖𝑐𝑎𝑙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𝑝𝑜𝑤𝑒𝑟</m:t>
                      </m:r>
                    </m:oMath>
                  </m:oMathPara>
                </a14:m>
                <a:endParaRPr lang="en-IN" sz="2400" dirty="0"/>
              </a:p>
              <a:p>
                <a:endParaRPr lang="en-IN" sz="2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𝑊𝑝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400" b="0" i="1" smtClean="0">
                              <a:latin typeface="Cambria Math" panose="02040503050406030204" pitchFamily="18" charset="0"/>
                            </a:rPr>
                            <m:t>ρ</m:t>
                          </m:r>
                        </m:den>
                      </m:f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F289E6-D356-9480-3EB5-FC722658A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912" y="2545743"/>
                <a:ext cx="4437088" cy="30646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237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C092-CC87-3E1E-0352-4D28D399A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073066-DD25-3713-2B74-B4D1ABCFCB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F2277D-F88A-344E-0646-B337DDE6F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45" y="1394085"/>
            <a:ext cx="5851655" cy="47443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CC2C00-4253-363D-7CF9-F1E27C668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366" y="1394085"/>
            <a:ext cx="5639001" cy="47443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63913E-AF03-0DB8-E8BF-F9F4C58FE74E}"/>
              </a:ext>
            </a:extLst>
          </p:cNvPr>
          <p:cNvSpPr txBox="1"/>
          <p:nvPr/>
        </p:nvSpPr>
        <p:spPr>
          <a:xfrm>
            <a:off x="217238" y="0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Scaling Analysis: (50 vs 500 meters)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380DA31-9F13-0F72-EF5D-B0175BCF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24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90223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9630-A892-4DDA-B5AD-4C0CB084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0A4F40-F3B6-DD8E-6CFA-64ED45C4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CDA632-E8F7-802B-A6C1-211113FCB489}"/>
              </a:ext>
            </a:extLst>
          </p:cNvPr>
          <p:cNvSpPr txBox="1"/>
          <p:nvPr/>
        </p:nvSpPr>
        <p:spPr>
          <a:xfrm>
            <a:off x="277199" y="186768"/>
            <a:ext cx="8592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Conclusion: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0207E-6A98-2236-4519-980148614B39}"/>
              </a:ext>
            </a:extLst>
          </p:cNvPr>
          <p:cNvSpPr txBox="1"/>
          <p:nvPr/>
        </p:nvSpPr>
        <p:spPr>
          <a:xfrm>
            <a:off x="509666" y="1229193"/>
            <a:ext cx="110327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 Successfully</a:t>
            </a:r>
            <a:r>
              <a:rPr lang="en-IN" sz="2800" b="1" dirty="0"/>
              <a:t> developed </a:t>
            </a:r>
            <a:r>
              <a:rPr lang="en-IN" sz="2800" dirty="0"/>
              <a:t>a 3D, steady state, </a:t>
            </a:r>
            <a:r>
              <a:rPr lang="en-IN" sz="2800" b="1" dirty="0"/>
              <a:t>finite volume-based </a:t>
            </a:r>
            <a:r>
              <a:rPr lang="en-IN" sz="2800" dirty="0"/>
              <a:t>computational model, in </a:t>
            </a:r>
            <a:r>
              <a:rPr lang="en-IN" sz="2800" dirty="0" err="1"/>
              <a:t>OpenFOAM</a:t>
            </a:r>
            <a:r>
              <a:rPr lang="en-IN" sz="2800" dirty="0"/>
              <a:t> to solve </a:t>
            </a:r>
            <a:r>
              <a:rPr lang="en-IN" sz="2800" b="1" dirty="0"/>
              <a:t>conjugate heat transfer and fluid flow phenomena.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Turbulent flow gives </a:t>
            </a:r>
            <a:r>
              <a:rPr lang="en-IN" sz="2800" b="1" dirty="0"/>
              <a:t>high heat extraction </a:t>
            </a:r>
            <a:r>
              <a:rPr lang="en-IN" sz="2800" dirty="0"/>
              <a:t>than laminar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 err="1"/>
              <a:t>CuO</a:t>
            </a:r>
            <a:r>
              <a:rPr lang="en-IN" sz="2800" b="1" dirty="0"/>
              <a:t>/water nanofluid </a:t>
            </a:r>
            <a:r>
              <a:rPr lang="en-IN" sz="2800" dirty="0"/>
              <a:t>achieved the highest net energy.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Scaling</a:t>
            </a:r>
            <a:r>
              <a:rPr lang="en-IN" sz="2800" dirty="0"/>
              <a:t> the system to 500 meter delivered </a:t>
            </a:r>
            <a:r>
              <a:rPr lang="en-IN" sz="2800" b="1" dirty="0"/>
              <a:t>22-fold higher net energy </a:t>
            </a:r>
            <a:r>
              <a:rPr lang="en-IN" sz="2800" dirty="0"/>
              <a:t>than 50 meter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D0449-3B2F-AECE-2BCB-C1D0D2D1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25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514724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24AC-D512-9F6D-6247-3DF15AA5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DC46C8-1AC2-2312-B464-C8C964894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54" b="-9206"/>
          <a:stretch>
            <a:fillRect/>
          </a:stretch>
        </p:blipFill>
        <p:spPr>
          <a:xfrm>
            <a:off x="8259581" y="0"/>
            <a:ext cx="3932420" cy="11114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DCF54B-AD42-EA3B-B04D-72F0E1B2C5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2" b="6878"/>
          <a:stretch>
            <a:fillRect/>
          </a:stretch>
        </p:blipFill>
        <p:spPr>
          <a:xfrm>
            <a:off x="322096" y="850197"/>
            <a:ext cx="7220648" cy="51576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7CA7EA-6CF9-2A5A-7740-0344D9127FBC}"/>
              </a:ext>
            </a:extLst>
          </p:cNvPr>
          <p:cNvSpPr txBox="1"/>
          <p:nvPr/>
        </p:nvSpPr>
        <p:spPr>
          <a:xfrm>
            <a:off x="7743848" y="2136336"/>
            <a:ext cx="528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Thank you everyone</a:t>
            </a:r>
          </a:p>
        </p:txBody>
      </p:sp>
      <p:pic>
        <p:nvPicPr>
          <p:cNvPr id="1028" name="Picture 4" descr="National Supercomputing Mission Powers ...">
            <a:extLst>
              <a:ext uri="{FF2B5EF4-FFF2-40B4-BE49-F238E27FC236}">
                <a16:creationId xmlns:a16="http://schemas.microsoft.com/office/drawing/2014/main" id="{A061BCCD-E8AF-F8E5-C8E6-817465EC1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741" y="2782667"/>
            <a:ext cx="3579959" cy="268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7B6420-89A7-4E25-43CC-DDE029CC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6AEC-172F-4B37-BCDC-CD1C39A67D26}" type="slidenum">
              <a:rPr lang="en-IN" sz="2400" b="1" smtClean="0"/>
              <a:t>26</a:t>
            </a:fld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16383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12151</TotalTime>
  <Words>1040</Words>
  <Application>Microsoft Office PowerPoint</Application>
  <PresentationFormat>Widescreen</PresentationFormat>
  <Paragraphs>259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Cambria Math</vt:lpstr>
      <vt:lpstr>Georgia Pro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Choudhary</dc:creator>
  <cp:lastModifiedBy>Suraj Choudhary</cp:lastModifiedBy>
  <cp:revision>3</cp:revision>
  <dcterms:created xsi:type="dcterms:W3CDTF">2026-04-23T06:35:21Z</dcterms:created>
  <dcterms:modified xsi:type="dcterms:W3CDTF">2026-05-23T00:49:37Z</dcterms:modified>
</cp:coreProperties>
</file>